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OrgSmith"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1E4D2B"/>
                </a:solidFill>
              </a:rPr>
              <a:t>Physician Compensation Review</a:t>
            </a:r>
          </a:p>
        </p:txBody>
      </p:sp>
      <p:sp>
        <p:nvSpPr>
          <p:cNvPr id="3" name="Subtitle 2"/>
          <p:cNvSpPr>
            <a:spLocks noGrp="1"/>
          </p:cNvSpPr>
          <p:nvPr>
            <p:ph type="subTitle" idx="1"/>
          </p:nvPr>
        </p:nvSpPr>
        <p:spPr/>
        <p:txBody>
          <a:bodyPr/>
          <a:lstStyle/>
          <a:p>
            <a:r>
              <a:t>Verdant Health Advisory LLC — July 3, 2021</a:t>
            </a:r>
          </a:p>
          <a:p>
            <a:pPr/>
            <a:r>
              <a:t>A briefing for the leadership of Johnson, Cross and Gibbs, prepared by Verdant Health Advisory. The review commenced on June 10, 2021 and runs for about three months, and this is an early look at where it stands and where it goes from here.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E4D2B"/>
                </a:solidFill>
              </a:rPr>
              <a:t>What we are here to answer</a:t>
            </a:r>
          </a:p>
        </p:txBody>
      </p:sp>
      <p:sp>
        <p:nvSpPr>
          <p:cNvPr id="3" name="Content Placeholder 2"/>
          <p:cNvSpPr>
            <a:spLocks noGrp="1"/>
          </p:cNvSpPr>
          <p:nvPr>
            <p:ph idx="1"/>
          </p:nvPr>
        </p:nvSpPr>
        <p:spPr/>
        <p:txBody>
          <a:bodyPr/>
          <a:lstStyle/>
          <a:p>
            <a:pPr lvl="1"/>
            <a:r>
              <a:t>Whether the compensation arrangements for your physicians sit within the range a fair-market-value analysis would support.</a:t>
            </a:r>
          </a:p>
          <a:p>
            <a:pPr lvl="1"/>
            <a:r>
              <a:t>Whether those arrangements are commercially reasonable on their own terms, apart from the volume or value of any referrals.</a:t>
            </a:r>
          </a:p>
          <a:p>
            <a:pPr lvl="1"/>
            <a:r>
              <a:t>Where the written plans and the arrangements as they actually operate have drifted apart from one another.</a:t>
            </a:r>
          </a:p>
          <a:p>
            <a:pPr lvl="1"/>
            <a:r>
              <a:t>What all of that means for the compliance footing your counsel has to stand on when the question is asked.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E4D2B"/>
                </a:solidFill>
              </a:rPr>
              <a:t>Where the review stands today</a:t>
            </a:r>
          </a:p>
        </p:txBody>
      </p:sp>
      <p:sp>
        <p:nvSpPr>
          <p:cNvPr id="3" name="Content Placeholder 2"/>
          <p:cNvSpPr>
            <a:spLocks noGrp="1"/>
          </p:cNvSpPr>
          <p:nvPr>
            <p:ph idx="1"/>
          </p:nvPr>
        </p:nvSpPr>
        <p:spPr/>
        <p:txBody>
          <a:bodyPr/>
          <a:lstStyle/>
          <a:p>
            <a:pPr lvl="1"/>
            <a:r>
              <a:t>We are in the early phase, assembling and sourcing the physician compensation data before any of it is interpreted.</a:t>
            </a:r>
          </a:p>
          <a:p>
            <a:pPr lvl="1"/>
            <a:r>
              <a:t>The benchmark sources are being scoped, so the comparison is settled before it is ever used against an arrangement.</a:t>
            </a:r>
          </a:p>
          <a:p>
            <a:pPr lvl="1"/>
            <a:r>
              <a:t>Some executed agreements arrived as scanned images with no text layer, so those figures are being keyed and checked by hand.</a:t>
            </a:r>
          </a:p>
          <a:p>
            <a:pPr lvl="1"/>
            <a:r>
              <a:t>No conclusions yet, and that is by design; the arrangements have not all been placed against their benchmarks.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E4D2B"/>
                </a:solidFill>
              </a:rPr>
              <a:t>How we are going about it</a:t>
            </a:r>
          </a:p>
        </p:txBody>
      </p:sp>
      <p:sp>
        <p:nvSpPr>
          <p:cNvPr id="3" name="Content Placeholder 2"/>
          <p:cNvSpPr>
            <a:spLocks noGrp="1"/>
          </p:cNvSpPr>
          <p:nvPr>
            <p:ph idx="1"/>
          </p:nvPr>
        </p:nvSpPr>
        <p:spPr/>
        <p:txBody>
          <a:bodyPr/>
          <a:lstStyle/>
          <a:p>
            <a:pPr lvl="1"/>
            <a:r>
              <a:t>We collect the arrangements as they actually work, not only as the plan documents describe them.</a:t>
            </a:r>
          </a:p>
          <a:p>
            <a:pPr lvl="1"/>
            <a:r>
              <a:t>We place each against published national survey benchmarks matched to specialty, productivity, and market.</a:t>
            </a:r>
          </a:p>
          <a:p>
            <a:pPr lvl="1"/>
            <a:r>
              <a:t>We keep what is confirmed cleanly apart from what is still open, so that nothing travels before it is sourced.</a:t>
            </a:r>
          </a:p>
          <a:p>
            <a:pPr lvl="1"/>
            <a:r>
              <a:t>We lead with the finding and label a recommendation as a recommendation, never as a fact.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E4D2B"/>
                </a:solidFill>
              </a:rPr>
              <a:t>Your Verdant team</a:t>
            </a:r>
          </a:p>
        </p:txBody>
      </p:sp>
      <p:sp>
        <p:nvSpPr>
          <p:cNvPr id="3" name="Content Placeholder 2"/>
          <p:cNvSpPr>
            <a:spLocks noGrp="1"/>
          </p:cNvSpPr>
          <p:nvPr>
            <p:ph idx="1"/>
          </p:nvPr>
        </p:nvSpPr>
        <p:spPr/>
        <p:txBody>
          <a:bodyPr/>
          <a:lstStyle/>
          <a:p>
            <a:pPr lvl="1"/>
            <a:r>
              <a:t>Patricia Moore, Analyst -- compensation data and sourcing.</a:t>
            </a:r>
          </a:p>
          <a:p>
            <a:pPr lvl="1"/>
            <a:r>
              <a:t>Daniel Alvarado, Senior Consultant -- benchmark selection and service-line economics.</a:t>
            </a:r>
          </a:p>
          <a:p>
            <a:pPr lvl="1"/>
            <a:r>
              <a:t>Laura Phillips, Chief Financial Officer, Johnson, Cross and Gibbs -- your sponsor and our point of sign-off.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E4D2B"/>
                </a:solidFill>
              </a:rPr>
              <a:t>What comes next</a:t>
            </a:r>
          </a:p>
        </p:txBody>
      </p:sp>
      <p:sp>
        <p:nvSpPr>
          <p:cNvPr id="3" name="Content Placeholder 2"/>
          <p:cNvSpPr>
            <a:spLocks noGrp="1"/>
          </p:cNvSpPr>
          <p:nvPr>
            <p:ph idx="1"/>
          </p:nvPr>
        </p:nvSpPr>
        <p:spPr/>
        <p:txBody>
          <a:bodyPr/>
          <a:lstStyle/>
          <a:p>
            <a:pPr lvl="1"/>
            <a:r>
              <a:t>We complete the sourced inventory of the arrangements under review.</a:t>
            </a:r>
          </a:p>
          <a:p>
            <a:pPr lvl="1"/>
            <a:r>
              <a:t>We settle the benchmark set with your team before any comparison is drawn.</a:t>
            </a:r>
          </a:p>
          <a:p>
            <a:pPr lvl="1"/>
            <a:r>
              <a:t>We bring you a first read only once the data behind it can be shown, and not a step before.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Briefing Deck: Physician Compensation Review for Johnson, Cross and Gibbs</dc:title>
  <dc:subject/>
  <dc:creator>Patricia Moore</dc:creator>
  <cp:keywords/>
  <dc:description>generated using python-pptx</dc:description>
  <cp:lastModifiedBy>Patricia Moore</cp:lastModifiedBy>
  <cp:revision>1</cp:revision>
  <dcterms:created xsi:type="dcterms:W3CDTF">2021-07-03T09:00:00Z</dcterms:created>
  <dcterms:modified xsi:type="dcterms:W3CDTF">2021-07-03T09:00:00Z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gSmithSynthetic">
    <vt:lpwstr>true</vt:lpwstr>
  </property>
</Properties>
</file>