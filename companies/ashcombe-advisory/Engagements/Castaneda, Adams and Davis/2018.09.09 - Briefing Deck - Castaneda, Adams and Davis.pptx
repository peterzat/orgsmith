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Investor Relations Program: Castaneda, Adams and Davis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Ashcombe Advisory Partners LLC — September 9, 2018</a:t>
            </a:r>
          </a:p>
          <a:p>
            <a:pPr/>
            <a:r>
              <a:t>Briefing for Lauren Heath and the management team, prepared by Michael Morris with Laura Bradley and Michelle Black. Program under way since July 6, 2018.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interviews are telling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Holders who know the company well credit management with steady execution, but few could explain how the parts of the business fit together</a:t>
            </a:r>
          </a:p>
          <a:p>
            <a:pPr lvl="1"/>
            <a:r>
              <a:t>Analysts want results explained the same way every quarter, particularly margins and capital spending</a:t>
            </a:r>
          </a:p>
          <a:p>
            <a:pPr lvl="1"/>
            <a:r>
              <a:t>Several investors hear from the company only around results and would welcome contact between quarters</a:t>
            </a:r>
          </a:p>
          <a:p>
            <a:pPr lvl="1"/>
            <a:r>
              <a:t>No one raised concerns about governance or disclosure; the gaps are in clarity and frequency of contact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register and the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Ownership sits mainly with a small group of long-term holders, which brings stability but limits trading liquidity</a:t>
            </a:r>
          </a:p>
          <a:p>
            <a:pPr lvl="1"/>
            <a:r>
              <a:t>Funds that own comparable companies are largely missing from the register, and they are the natural first targets for outreach</a:t>
            </a:r>
          </a:p>
          <a:p>
            <a:pPr lvl="1"/>
            <a:r>
              <a:t>Analyst coverage is thinner than at peers of similar size, so each published note carries more weight with holders</a:t>
            </a:r>
          </a:p>
          <a:p>
            <a:pPr lvl="1"/>
            <a:r>
              <a:t>Michelle Black's peer benchmarking shows where the company's disclosure is lighter than the peer group's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Draft investment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 plain statement of what the company does and where it earns its returns, written in management's own words</a:t>
            </a:r>
          </a:p>
          <a:p>
            <a:pPr lvl="1"/>
            <a:r>
              <a:t>A small number of themes, each supported only by figures the company has already disclosed</a:t>
            </a:r>
          </a:p>
          <a:p>
            <a:pPr lvl="1"/>
            <a:r>
              <a:t>One agreed way of describing margins and capital spending, used on every call and in every presentation</a:t>
            </a:r>
          </a:p>
          <a:p>
            <a:pPr lvl="1"/>
            <a:r>
              <a:t>Draft is with Lauren Heath for comment now and will be revised once the remaining interviews are written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Who does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Michael Morris: program lead and first call on anything time-sensitive</a:t>
            </a:r>
          </a:p>
          <a:p>
            <a:pPr lvl="1"/>
            <a:r>
              <a:t>Laura Bradley: drafts, version control, and the approval log for every item</a:t>
            </a:r>
          </a:p>
          <a:p>
            <a:pPr lvl="1"/>
            <a:r>
              <a:t>Michelle Black: register analysis, peer benchmarking, and coverage monitoring</a:t>
            </a:r>
          </a:p>
          <a:p>
            <a:pPr lvl="1"/>
            <a:r>
              <a:t>Weekly status by email to Lauren Heath, and a working session with the full team about once a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need from management before the 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Comments on the draft narrative from Lauren Heath and her colleagues, so the revision can start as soon as the interviews close</a:t>
            </a:r>
          </a:p>
          <a:p>
            <a:pPr lvl="1"/>
            <a:r>
              <a:t>Approval to approach the target funds once the narrative is settled</a:t>
            </a:r>
          </a:p>
          <a:p>
            <a:pPr lvl="1"/>
            <a:r>
              <a:t>A view on whether the program should include a non-deal roadshow or a dedicated investor event</a:t>
            </a:r>
          </a:p>
          <a:p>
            <a:pPr lvl="1"/>
            <a:r>
              <a:t>A date for the next working session, ahead of the next results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Investor Relations Program for Castaneda, Adams and Davis</dc:title>
  <dc:subject/>
  <dc:creator>Michael Morris</dc:creator>
  <cp:keywords/>
  <dc:description>generated using python-pptx</dc:description>
  <cp:lastModifiedBy>Michael Morris</cp:lastModifiedBy>
  <cp:revision>1</cp:revision>
  <dcterms:created xsi:type="dcterms:W3CDTF">2018-09-09T09:00:00Z</dcterms:created>
  <dcterms:modified xsi:type="dcterms:W3CDTF">2018-09-09T09:00:00Z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