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OrgSmith"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1F3A5F"/>
                </a:solidFill>
              </a:rPr>
              <a:t>Which capital structure should Lawson, Keller and Owens take to lenders?</a:t>
            </a:r>
          </a:p>
        </p:txBody>
      </p:sp>
      <p:sp>
        <p:nvSpPr>
          <p:cNvPr id="3" name="Subtitle 2"/>
          <p:cNvSpPr>
            <a:spLocks noGrp="1"/>
          </p:cNvSpPr>
          <p:nvPr>
            <p:ph type="subTitle" idx="1"/>
          </p:nvPr>
        </p:nvSpPr>
        <p:spPr/>
        <p:txBody>
          <a:bodyPr/>
          <a:lstStyle/>
          <a:p>
            <a:r>
              <a:t>Quillon Harbor Advisors LLC — August 5, 2016</a:t>
            </a:r>
          </a:p>
          <a:p>
            <a:pPr/>
            <a:r>
              <a:t>Since the engagement began on July 5, 2016, we have reconciled the model to the monthly accounts and drafted the financing memorandum as far as the business description. The memorandum cannot be finished, and no financing source can be approached, until the shareholders choose the structure we will market, because the list of 46 financing sources we have prepared divides between banks and other senior lenders on one side and funds providing junior capital on the other. A decision this month keeps outreach on the timetable in our engagement letter.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Our answer: market a senior facility and a junior tranche together</a:t>
            </a:r>
          </a:p>
        </p:txBody>
      </p:sp>
      <p:sp>
        <p:nvSpPr>
          <p:cNvPr id="3" name="Content Placeholder 2"/>
          <p:cNvSpPr>
            <a:spLocks noGrp="1"/>
          </p:cNvSpPr>
          <p:nvPr>
            <p:ph idx="1"/>
          </p:nvPr>
        </p:nvSpPr>
        <p:spPr/>
        <p:txBody>
          <a:bodyPr/>
          <a:lstStyle/>
          <a:p>
            <a:pPr lvl="1"/>
            <a:r>
              <a:t>Precedent. In the 19 comparable financings we reviewed for industrial and business-services companies of similar size, senior lenders seldom went as far as the total the shareholders have in mind, and junior capital usually covered the difference.</a:t>
            </a:r>
          </a:p>
          <a:p>
            <a:pPr lvl="1"/>
            <a:r>
              <a:t>Cash flow. The model shows cash generation weighted to the second half of the year, and the amortization a senior-only facility would require falls hardest in the months when cash is thinnest.</a:t>
            </a:r>
          </a:p>
          <a:p>
            <a:pPr lvl="1"/>
            <a:r>
              <a:t>Cost and control. Junior capital costs more than bank debt, but it asks for little or no amortization, and on the terms we expect it can be arranged without warrants or a board seat.</a:t>
            </a:r>
          </a:p>
          <a:p>
            <a:pPr lvl="1"/>
            <a:r>
              <a:t>The existing bank. A senior facility of conventional size leaves the existing bank room to bid, and its knowledge of the company is worth keeping in the process.</a:t>
            </a:r>
          </a:p>
          <a:p>
            <a:pPr lvl="1"/>
            <a:r>
              <a:t>One round. Marketing both pieces at once lets each lender price against the whole structure, so the shareholders see the real trade-off between cost and covenants before they commit.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What we need from the shareholders to proceed</a:t>
            </a:r>
          </a:p>
        </p:txBody>
      </p:sp>
      <p:sp>
        <p:nvSpPr>
          <p:cNvPr id="3" name="Content Placeholder 2"/>
          <p:cNvSpPr>
            <a:spLocks noGrp="1"/>
          </p:cNvSpPr>
          <p:nvPr>
            <p:ph idx="1"/>
          </p:nvPr>
        </p:nvSpPr>
        <p:spPr/>
        <p:txBody>
          <a:bodyPr/>
          <a:lstStyle/>
          <a:p>
            <a:pPr/>
            <a:r>
              <a:t>The draft memorandum and the proposed source list went to Robert Grimes with this deck, and both are written on the assumption that the recommendation is accepted. Before our working session later this month we ask the shareholders for a decision on the structure, their comments on the draft memorandum, and approval of the source list, with any additions or exclusions marked on it. Heather Delacruz will take the shareholders through the recommendation in person if that would help, Sarah Fletcher will begin first calls only once the list is approved, and questions on the model should come to Robert Turner.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Deck: Recapitalization Advisory for Lawson, Keller and Owens</dc:title>
  <dc:subject/>
  <dc:creator>Robert Turner</dc:creator>
  <cp:keywords/>
  <dc:description>generated using python-pptx</dc:description>
  <cp:lastModifiedBy>Robert Turner</cp:lastModifiedBy>
  <cp:revision>1</cp:revision>
  <dcterms:created xsi:type="dcterms:W3CDTF">2016-08-05T09:00:00Z</dcterms:created>
  <dcterms:modified xsi:type="dcterms:W3CDTF">2016-08-05T09:00:00Z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gSmithSynthetic">
    <vt:lpwstr>true</vt:lpwstr>
  </property>
</Properties>
</file>