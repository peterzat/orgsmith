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OrgSmith"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1F3A5F"/>
                </a:solidFill>
              </a:rPr>
              <a:t>Sell-Side Advisory for Armstrong, Silva and Dyer: Preparation Review</a:t>
            </a:r>
          </a:p>
        </p:txBody>
      </p:sp>
      <p:sp>
        <p:nvSpPr>
          <p:cNvPr id="3" name="Subtitle 2"/>
          <p:cNvSpPr>
            <a:spLocks noGrp="1"/>
          </p:cNvSpPr>
          <p:nvPr>
            <p:ph type="subTitle" idx="1"/>
          </p:nvPr>
        </p:nvSpPr>
        <p:spPr/>
        <p:txBody>
          <a:bodyPr/>
          <a:lstStyle/>
          <a:p>
            <a:r>
              <a:t>Quillon Harbor Advisors LLC — September 12, 2014</a:t>
            </a:r>
          </a:p>
        </p:txBody>
      </p:sp>
      <p:graphicFrame>
        <p:nvGraphicFramePr>
          <p:cNvPr id="4" name="Table 3"/>
          <p:cNvGraphicFramePr>
            <a:graphicFrameLocks noGrp="1"/>
          </p:cNvGraphicFramePr>
          <p:nvPr/>
        </p:nvGraphicFramePr>
        <p:xfrm>
          <a:off x="548640" y="2011680"/>
          <a:ext cx="8046720" cy="1463040"/>
        </p:xfrm>
        <a:graphic>
          <a:graphicData uri="http://schemas.openxmlformats.org/drawingml/2006/table">
            <a:tbl>
              <a:tblPr firstRow="1" bandRow="1">
                <a:tableStyleId>{5C22544A-7EE6-4342-B048-85BDC9FD1C3A}</a:tableStyleId>
              </a:tblPr>
              <a:tblGrid>
                <a:gridCol w="2682240"/>
                <a:gridCol w="2682240"/>
                <a:gridCol w="2682240"/>
              </a:tblGrid>
              <a:tr h="365760">
                <a:tc>
                  <a:txBody>
                    <a:bodyPr/>
                    <a:lstStyle/>
                    <a:p>
                      <a:r>
                        <a:rPr sz="1200"/>
                        <a:t>Measure</a:t>
                      </a:r>
                    </a:p>
                  </a:txBody>
                  <a:tcPr/>
                </a:tc>
                <a:tc>
                  <a:txBody>
                    <a:bodyPr/>
                    <a:lstStyle/>
                    <a:p>
                      <a:r>
                        <a:rPr sz="1200"/>
                        <a:t>Position</a:t>
                      </a:r>
                    </a:p>
                  </a:txBody>
                  <a:tcPr/>
                </a:tc>
                <a:tc>
                  <a:txBody>
                    <a:bodyPr/>
                    <a:lstStyle/>
                    <a:p>
                      <a:r>
                        <a:rPr sz="1200"/>
                        <a:t>What it tells us</a:t>
                      </a:r>
                    </a:p>
                  </a:txBody>
                  <a:tcPr/>
                </a:tc>
              </a:tr>
              <a:tr h="365760">
                <a:tc>
                  <a:txBody>
                    <a:bodyPr/>
                    <a:lstStyle/>
                    <a:p>
                      <a:r>
                        <a:rPr sz="1200"/>
                        <a:t>Engagement start</a:t>
                      </a:r>
                    </a:p>
                  </a:txBody>
                  <a:tcPr/>
                </a:tc>
                <a:tc>
                  <a:txBody>
                    <a:bodyPr/>
                    <a:lstStyle/>
                    <a:p>
                      <a:r>
                        <a:rPr sz="1200"/>
                        <a:t>July 11, 2014</a:t>
                      </a:r>
                    </a:p>
                  </a:txBody>
                  <a:tcPr/>
                </a:tc>
                <a:tc>
                  <a:txBody>
                    <a:bodyPr/>
                    <a:lstStyle/>
                    <a:p>
                      <a:r>
                        <a:rPr sz="1200"/>
                        <a:t>Preparation phase; no party has yet been approached</a:t>
                      </a:r>
                    </a:p>
                  </a:txBody>
                  <a:tcPr/>
                </a:tc>
              </a:tr>
              <a:tr h="365760">
                <a:tc>
                  <a:txBody>
                    <a:bodyPr/>
                    <a:lstStyle/>
                    <a:p>
                      <a:r>
                        <a:rPr sz="1200"/>
                        <a:t>Engagement scope</a:t>
                      </a:r>
                    </a:p>
                  </a:txBody>
                  <a:tcPr/>
                </a:tc>
                <a:tc>
                  <a:txBody>
                    <a:bodyPr/>
                    <a:lstStyle/>
                    <a:p>
                      <a:r>
                        <a:rPr sz="1200"/>
                        <a:t>145 prospective buyers</a:t>
                      </a:r>
                    </a:p>
                  </a:txBody>
                  <a:tcPr/>
                </a:tc>
                <a:tc>
                  <a:txBody>
                    <a:bodyPr/>
                    <a:lstStyle/>
                    <a:p>
                      <a:r>
                        <a:rPr sz="1200"/>
                        <a:t>Agreed in the engagement letter; the working list is with the company for approval</a:t>
                      </a:r>
                    </a:p>
                  </a:txBody>
                  <a:tcPr/>
                </a:tc>
              </a:tr>
              <a:tr h="365760">
                <a:tc>
                  <a:txBody>
                    <a:bodyPr/>
                    <a:lstStyle/>
                    <a:p>
                      <a:r>
                        <a:rPr sz="1200"/>
                        <a:t>Valuation reference set</a:t>
                      </a:r>
                    </a:p>
                  </a:txBody>
                  <a:tcPr/>
                </a:tc>
                <a:tc>
                  <a:txBody>
                    <a:bodyPr/>
                    <a:lstStyle/>
                    <a:p>
                      <a:r>
                        <a:rPr sz="1200"/>
                        <a:t>40 comparable transactions</a:t>
                      </a:r>
                    </a:p>
                  </a:txBody>
                  <a:tcPr/>
                </a:tc>
                <a:tc>
                  <a:txBody>
                    <a:bodyPr/>
                    <a:lstStyle/>
                    <a:p>
                      <a:r>
                        <a:rPr sz="1200"/>
                        <a:t>Closed deals of similar size and type; the basis for our valuation range</a:t>
                      </a:r>
                    </a:p>
                  </a:txBody>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Reading the Figures</a:t>
            </a:r>
          </a:p>
        </p:txBody>
      </p:sp>
      <p:sp>
        <p:nvSpPr>
          <p:cNvPr id="3" name="Content Placeholder 2"/>
          <p:cNvSpPr>
            <a:spLocks noGrp="1"/>
          </p:cNvSpPr>
          <p:nvPr>
            <p:ph idx="1"/>
          </p:nvPr>
        </p:nvSpPr>
        <p:spPr/>
        <p:txBody>
          <a:bodyPr/>
          <a:lstStyle/>
          <a:p>
            <a:pPr/>
            <a:r>
              <a:t>The list is short on purpose. Every party on it has a plain reason to want a business of this kind, and none will learn the company's name before signing a non-disclosure agreement. The comparable transactions frame the range. They do not set the price. Buyers will study the same deals and argue from them, so we want Laura Gonzalez and the owners to hear our reading first. Rachel Brown has tied each figure in the draft memorandum back to the model, and the rebuilt projections now stand on the same footing as the historical statements. The reference set leans on recent deals, and we have left out transactions where a buyer paid for a strategic fit this company does not offer. Nothing in the preparation so far has moved us off the range Mark Allen took the owners through last month.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What Diligence Will Ask</a:t>
            </a:r>
          </a:p>
        </p:txBody>
      </p:sp>
      <p:sp>
        <p:nvSpPr>
          <p:cNvPr id="3" name="Content Placeholder 2"/>
          <p:cNvSpPr>
            <a:spLocks noGrp="1"/>
          </p:cNvSpPr>
          <p:nvPr>
            <p:ph idx="1"/>
          </p:nvPr>
        </p:nvSpPr>
        <p:spPr/>
        <p:txBody>
          <a:bodyPr/>
          <a:lstStyle/>
          <a:p>
            <a:pPr lvl="1"/>
            <a:r>
              <a:t>Customer concentration: contract terms and revenue history for the larger accounts.</a:t>
            </a:r>
          </a:p>
          <a:p>
            <a:pPr lvl="1"/>
            <a:r>
              <a:t>Management depth: who runs the business day to day once the owners step back.</a:t>
            </a:r>
          </a:p>
          <a:p>
            <a:pPr lvl="1"/>
            <a:r>
              <a:t>Projections: the basis for each assumption, tied to the monthly results.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Before Outreach Begins</a:t>
            </a:r>
          </a:p>
        </p:txBody>
      </p:sp>
      <p:sp>
        <p:nvSpPr>
          <p:cNvPr id="3" name="Content Placeholder 2"/>
          <p:cNvSpPr>
            <a:spLocks noGrp="1"/>
          </p:cNvSpPr>
          <p:nvPr>
            <p:ph idx="1"/>
          </p:nvPr>
        </p:nvSpPr>
        <p:spPr/>
        <p:txBody>
          <a:bodyPr/>
          <a:lstStyle/>
          <a:p>
            <a:pPr lvl="1"/>
            <a:r>
              <a:t>Laura Gonzalez to confirm the working list and name any party that should not hear from us.</a:t>
            </a:r>
          </a:p>
          <a:p>
            <a:pPr lvl="1"/>
            <a:r>
              <a:t>Owners to review the teaser and the draft memorandum with Mark Allen in one working session.</a:t>
            </a:r>
          </a:p>
          <a:p>
            <a:pPr lvl="1"/>
            <a:r>
              <a:t>Rachel Brown to complete the data room index and request the remaining uploads from the finance team.</a:t>
            </a:r>
          </a:p>
          <a:p>
            <a:pPr lvl="1"/>
            <a:r>
              <a:t>Owners to rehearse answers to the diligence questions with Rachel Brown before the memorandum is released.</a:t>
            </a:r>
          </a:p>
          <a:p>
            <a:pPr lvl="1"/>
            <a:r>
              <a:t>First calls to go out from Mark Allen once the list and the teaser are approved.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Briefing Deck: Sell-Side Advisory for Armstrong, Silva and Dyer</dc:title>
  <dc:subject/>
  <dc:creator>Rachel Brown</dc:creator>
  <cp:keywords/>
  <dc:description>generated using python-pptx</dc:description>
  <cp:lastModifiedBy>Rachel Brown</cp:lastModifiedBy>
  <cp:revision>1</cp:revision>
  <dcterms:created xsi:type="dcterms:W3CDTF">2014-09-12T09:00:00Z</dcterms:created>
  <dcterms:modified xsi:type="dcterms:W3CDTF">2014-09-12T09:00:00Z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gSmithSynthetic">
    <vt:lpwstr>true</vt:lpwstr>
  </property>
</Properties>
</file>