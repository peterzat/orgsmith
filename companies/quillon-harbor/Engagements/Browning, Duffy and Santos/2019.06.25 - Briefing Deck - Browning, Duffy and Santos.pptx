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OrgSmith"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a:solidFill>
                  <a:srgbClr val="1F3A5F"/>
                </a:solidFill>
              </a:rPr>
              <a:t>Browning, Duffy and Santos: Carve-Out Advisory Briefing for Thomas Le</a:t>
            </a:r>
          </a:p>
        </p:txBody>
      </p:sp>
      <p:sp>
        <p:nvSpPr>
          <p:cNvPr id="3" name="Subtitle 2"/>
          <p:cNvSpPr>
            <a:spLocks noGrp="1"/>
          </p:cNvSpPr>
          <p:nvPr>
            <p:ph type="subTitle" idx="1"/>
          </p:nvPr>
        </p:nvSpPr>
        <p:spPr/>
        <p:txBody>
          <a:bodyPr/>
          <a:lstStyle/>
          <a:p>
            <a:r>
              <a:t>Quillon Harbor Advisors LLC — June 25, 2019</a:t>
            </a:r>
          </a:p>
        </p:txBody>
      </p:sp>
      <p:graphicFrame>
        <p:nvGraphicFramePr>
          <p:cNvPr id="4" name="Table 3"/>
          <p:cNvGraphicFramePr>
            <a:graphicFrameLocks noGrp="1"/>
          </p:cNvGraphicFramePr>
          <p:nvPr/>
        </p:nvGraphicFramePr>
        <p:xfrm>
          <a:off x="548640" y="2011680"/>
          <a:ext cx="8046720" cy="1828800"/>
        </p:xfrm>
        <a:graphic>
          <a:graphicData uri="http://schemas.openxmlformats.org/drawingml/2006/table">
            <a:tbl>
              <a:tblPr firstRow="1" bandRow="1">
                <a:tableStyleId>{5C22544A-7EE6-4342-B048-85BDC9FD1C3A}</a:tableStyleId>
              </a:tblPr>
              <a:tblGrid>
                <a:gridCol w="2682240"/>
                <a:gridCol w="2682240"/>
                <a:gridCol w="2682240"/>
              </a:tblGrid>
              <a:tr h="365760">
                <a:tc>
                  <a:txBody>
                    <a:bodyPr/>
                    <a:lstStyle/>
                    <a:p>
                      <a:r>
                        <a:rPr sz="1200"/>
                        <a:t>Measure</a:t>
                      </a:r>
                    </a:p>
                  </a:txBody>
                  <a:tcPr/>
                </a:tc>
                <a:tc>
                  <a:txBody>
                    <a:bodyPr/>
                    <a:lstStyle/>
                    <a:p>
                      <a:r>
                        <a:rPr sz="1200"/>
                        <a:t>Figure</a:t>
                      </a:r>
                    </a:p>
                  </a:txBody>
                  <a:tcPr/>
                </a:tc>
                <a:tc>
                  <a:txBody>
                    <a:bodyPr/>
                    <a:lstStyle/>
                    <a:p>
                      <a:r>
                        <a:rPr sz="1200"/>
                        <a:t>Basis and caveats</a:t>
                      </a:r>
                    </a:p>
                  </a:txBody>
                  <a:tcPr/>
                </a:tc>
              </a:tr>
              <a:tr h="365760">
                <a:tc>
                  <a:txBody>
                    <a:bodyPr/>
                    <a:lstStyle/>
                    <a:p>
                      <a:r>
                        <a:rPr sz="1200"/>
                        <a:t>Approved buyer list</a:t>
                      </a:r>
                    </a:p>
                  </a:txBody>
                  <a:tcPr/>
                </a:tc>
                <a:tc>
                  <a:txBody>
                    <a:bodyPr/>
                    <a:lstStyle/>
                    <a:p>
                      <a:r>
                        <a:rPr sz="1200"/>
                        <a:t>140 prospective buyers</a:t>
                      </a:r>
                    </a:p>
                  </a:txBody>
                  <a:tcPr/>
                </a:tc>
                <a:tc>
                  <a:txBody>
                    <a:bodyPr/>
                    <a:lstStyle/>
                    <a:p>
                      <a:r>
                        <a:rPr sz="1200"/>
                        <a:t>Strategic and financial parties, reviewed name by name with Thomas Le before outreach began</a:t>
                      </a:r>
                    </a:p>
                  </a:txBody>
                  <a:tcPr/>
                </a:tc>
              </a:tr>
              <a:tr h="365760">
                <a:tc>
                  <a:txBody>
                    <a:bodyPr/>
                    <a:lstStyle/>
                    <a:p>
                      <a:r>
                        <a:rPr sz="1200"/>
                        <a:t>Precedent set</a:t>
                      </a:r>
                    </a:p>
                  </a:txBody>
                  <a:tcPr/>
                </a:tc>
                <a:tc>
                  <a:txBody>
                    <a:bodyPr/>
                    <a:lstStyle/>
                    <a:p>
                      <a:r>
                        <a:rPr sz="1200"/>
                        <a:t>13 comparable carve-outs</a:t>
                      </a:r>
                    </a:p>
                  </a:txBody>
                  <a:tcPr/>
                </a:tc>
                <a:tc>
                  <a:txBody>
                    <a:bodyPr/>
                    <a:lstStyle/>
                    <a:p>
                      <a:r>
                        <a:rPr sz="1200"/>
                        <a:t>Announced transactions with disclosed transition terms; deals without disclosed terms are excluded</a:t>
                      </a:r>
                    </a:p>
                  </a:txBody>
                  <a:tcPr/>
                </a:tc>
              </a:tr>
              <a:tr h="365760">
                <a:tc>
                  <a:txBody>
                    <a:bodyPr/>
                    <a:lstStyle/>
                    <a:p>
                      <a:r>
                        <a:rPr sz="1200"/>
                        <a:t>Engagement start</a:t>
                      </a:r>
                    </a:p>
                  </a:txBody>
                  <a:tcPr/>
                </a:tc>
                <a:tc>
                  <a:txBody>
                    <a:bodyPr/>
                    <a:lstStyle/>
                    <a:p>
                      <a:r>
                        <a:rPr sz="1200"/>
                        <a:t>May 13, 2019</a:t>
                      </a:r>
                    </a:p>
                  </a:txBody>
                  <a:tcPr/>
                </a:tc>
                <a:tc>
                  <a:txBody>
                    <a:bodyPr/>
                    <a:lstStyle/>
                    <a:p>
                      <a:r>
                        <a:rPr sz="1200"/>
                        <a:t>The working calendar is measured from this date</a:t>
                      </a:r>
                    </a:p>
                  </a:txBody>
                  <a:tcPr/>
                </a:tc>
              </a:tr>
              <a:tr h="365760">
                <a:tc>
                  <a:txBody>
                    <a:bodyPr/>
                    <a:lstStyle/>
                    <a:p>
                      <a:r>
                        <a:rPr sz="1200"/>
                        <a:t>Standalone cost estimate</a:t>
                      </a:r>
                    </a:p>
                  </a:txBody>
                  <a:tcPr/>
                </a:tc>
                <a:tc>
                  <a:txBody>
                    <a:bodyPr/>
                    <a:lstStyle/>
                    <a:p>
                      <a:r>
                        <a:rPr sz="1200"/>
                        <a:t>In draft</a:t>
                      </a:r>
                    </a:p>
                  </a:txBody>
                  <a:tcPr/>
                </a:tc>
                <a:tc>
                  <a:txBody>
                    <a:bodyPr/>
                    <a:lstStyle/>
                    <a:p>
                      <a:r>
                        <a:rPr sz="1200"/>
                        <a:t>Prepared with your finance team; an estimate, not yet a reviewed figure</a:t>
                      </a:r>
                    </a:p>
                  </a:txBody>
                  <a:tcPr/>
                </a:tc>
              </a:tr>
            </a:tbl>
          </a:graphicData>
        </a:graphic>
      </p:graphicFrame>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F3A5F"/>
                </a:solidFill>
              </a:rPr>
              <a:t>Reading the Figures</a:t>
            </a:r>
          </a:p>
        </p:txBody>
      </p:sp>
      <p:sp>
        <p:nvSpPr>
          <p:cNvPr id="3" name="Content Placeholder 2"/>
          <p:cNvSpPr>
            <a:spLocks noGrp="1"/>
          </p:cNvSpPr>
          <p:nvPr>
            <p:ph idx="1"/>
          </p:nvPr>
        </p:nvSpPr>
        <p:spPr/>
        <p:txBody>
          <a:bodyPr/>
          <a:lstStyle/>
          <a:p>
            <a:pPr/>
            <a:r>
              <a:t>The buyer list is broad by design, and it should not be read as a forecast of interest. It holds strategic parties that could fold most of the shared functions into their own operations, and financial sponsors that would need the full transition package; Sarah Fletcher's first calls are under way, and we will report the count of parties contacted when the round closes. The precedent set is narrower than we would like, because many sellers do not disclose transition terms, and we would not draw a valuation conclusion from it. With that caveat, it does show that the separations drawing the most interest had settled the length of their transition services before marketing began. Taken together with the standalone cost work, which so far points to information technology as the function a buyer would find hardest to replace, the figures argue for giving every party the transition outline with the memorandum, not after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solidFill>
                  <a:srgbClr val="1F3A5F"/>
                </a:solidFill>
              </a:rPr>
              <a:t>Before Our Next Briefing</a:t>
            </a:r>
          </a:p>
        </p:txBody>
      </p:sp>
      <p:sp>
        <p:nvSpPr>
          <p:cNvPr id="3" name="Content Placeholder 2"/>
          <p:cNvSpPr>
            <a:spLocks noGrp="1"/>
          </p:cNvSpPr>
          <p:nvPr>
            <p:ph idx="1"/>
          </p:nvPr>
        </p:nvSpPr>
        <p:spPr/>
        <p:txBody>
          <a:bodyPr/>
          <a:lstStyle/>
          <a:p>
            <a:pPr lvl="1"/>
            <a:r>
              <a:t>Sarah Fletcher completes the first-round calls and reports which parties have asked for the memorandum.</a:t>
            </a:r>
          </a:p>
          <a:p>
            <a:pPr lvl="1"/>
            <a:r>
              <a:t>Confidentiality agreements go out in the form Thomas Le approved; the memorandum follows only on signature.</a:t>
            </a:r>
          </a:p>
          <a:p>
            <a:pPr lvl="1"/>
            <a:r>
              <a:t>Angela Cole closes the open items in the standalone cost estimate with the finance team, marking any figure that remains an estimate.</a:t>
            </a:r>
          </a:p>
          <a:p>
            <a:pPr lvl="1"/>
            <a:r>
              <a:t>Mark Allen proposes the date by which indications of interest will be requested.</a:t>
            </a:r>
          </a:p>
          <a:p>
            <a:pPr lvl="1"/>
            <a:r>
              <a:t>Thomas Le confirms the transition services period the company is prepared to offer, without which the memorandum cannot be finalized.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Briefing Deck: Carve-Out Advisory for Browning, Duffy and Santos</dc:title>
  <dc:subject/>
  <dc:creator>Angela Cole</dc:creator>
  <cp:keywords/>
  <dc:description>generated using python-pptx</dc:description>
  <cp:lastModifiedBy>Angela Cole</cp:lastModifiedBy>
  <cp:revision>1</cp:revision>
  <dcterms:created xsi:type="dcterms:W3CDTF">2019-06-25T09:00:00Z</dcterms:created>
  <dcterms:modified xsi:type="dcterms:W3CDTF">2019-06-25T09:00:00Z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gSmithSynthetic">
    <vt:lpwstr>true</vt:lpwstr>
  </property>
</Properties>
</file>