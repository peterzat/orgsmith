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Override PartName="/docProps/custom.xml" ContentType="application/vnd.openxmlformats-officedocument.custom-propertie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OrgSmith"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rPr>
                <a:solidFill>
                  <a:srgbClr val="1F3A5F"/>
                </a:solidFill>
              </a:rPr>
              <a:t>Hamilton PLC: on what cost base should the division be valued?</a:t>
            </a:r>
          </a:p>
        </p:txBody>
      </p:sp>
      <p:sp>
        <p:nvSpPr>
          <p:cNvPr id="3" name="Subtitle 2"/>
          <p:cNvSpPr>
            <a:spLocks noGrp="1"/>
          </p:cNvSpPr>
          <p:nvPr>
            <p:ph type="subTitle" idx="1"/>
          </p:nvPr>
        </p:nvSpPr>
        <p:spPr/>
        <p:txBody>
          <a:bodyPr/>
          <a:lstStyle/>
          <a:p>
            <a:r>
              <a:t>Quillon Harbor Advisors LLC — September 19, 2021</a:t>
            </a:r>
          </a:p>
          <a:p>
            <a:pPr/>
            <a:r>
              <a:t>Prepared for Heather Miller, Chief Operating Officer, by Richard Mccoy, Sandra Norman and Melissa Jacobson. Since the engagement began on August 13, 2021, we have held the management sessions and received most of what the information request asked for. The term sheet already sets out the consideration the buyer proposes, so the open question is not what the buyer will pay but what the board should compare it with. The valuation analyses cannot go further until the board fixes the cost base they rest on, and the preliminary review with the board, the next stage in our schedule, depends on that decision.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solidFill>
                  <a:srgbClr val="1F3A5F"/>
                </a:solidFill>
              </a:rPr>
              <a:t>Our answer: value the division as a stand-alone business, with group services at their full replacement cost</a:t>
            </a:r>
          </a:p>
        </p:txBody>
      </p:sp>
      <p:sp>
        <p:nvSpPr>
          <p:cNvPr id="3" name="Content Placeholder 2"/>
          <p:cNvSpPr>
            <a:spLocks noGrp="1"/>
          </p:cNvSpPr>
          <p:nvPr>
            <p:ph idx="1"/>
          </p:nvPr>
        </p:nvSpPr>
        <p:spPr/>
        <p:txBody>
          <a:bodyPr/>
          <a:lstStyle/>
          <a:p>
            <a:pPr lvl="1"/>
            <a:r>
              <a:t>The reported results carry group services on an allocation key, not at what the division would pay for them on its own.</a:t>
            </a:r>
          </a:p>
          <a:p>
            <a:pPr lvl="1"/>
            <a:r>
              <a:t>The bridge built with the division's finance team prices each service line by line and marks which figures are management's and which are our estimates.</a:t>
            </a:r>
          </a:p>
          <a:p>
            <a:pPr lvl="1"/>
            <a:r>
              <a:t>The buyer's term sheet covers only part of that cost base with transitional services, and only for a limited period.</a:t>
            </a:r>
          </a:p>
          <a:p>
            <a:pPr lvl="1"/>
            <a:r>
              <a:t>The comparable companies and precedent transactions are stand-alone businesses, so the comparison is like for like only on this basis.</a:t>
            </a:r>
          </a:p>
          <a:p>
            <a:pPr lvl="1"/>
            <a:r>
              <a:t>A downside case, with replacement costs above management's estimates, will show the board how far the analysis moves.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solidFill>
                  <a:srgbClr val="1F3A5F"/>
                </a:solidFill>
              </a:rPr>
              <a:t>What we need to proceed</a:t>
            </a:r>
          </a:p>
        </p:txBody>
      </p:sp>
      <p:sp>
        <p:nvSpPr>
          <p:cNvPr id="3" name="Content Placeholder 2"/>
          <p:cNvSpPr>
            <a:spLocks noGrp="1"/>
          </p:cNvSpPr>
          <p:nvPr>
            <p:ph idx="1"/>
          </p:nvPr>
        </p:nvSpPr>
        <p:spPr/>
        <p:txBody>
          <a:bodyPr/>
          <a:lstStyle/>
          <a:p>
            <a:pPr/>
            <a:r>
              <a:t>We ask Heather Miller to put our note on the basis of valuation to the board at its next meeting and to send us the board's confirmation in writing, since the opinion will refer to it. We also need management to sign off the replacement cost estimates in the bridge, and the first draft of the sale agreement as soon as counsel has it. If the board prefers a different basis, we need to know before the preliminary review, because every analysis we will show it is built on this one. Once the basis is confirmed, Melissa Jacobson will complete the analyses on it, Richard Mccoy will propose a date for the preliminary review, and Sandra Norman will confirm the remaining information items to Heather Miller in writing.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Briefing Deck: Fairness Opinion for Hamilton PLC</dc:title>
  <dc:subject/>
  <dc:creator>Sandra Norman</dc:creator>
  <cp:keywords/>
  <dc:description>generated using python-pptx</dc:description>
  <cp:lastModifiedBy>Sandra Norman</cp:lastModifiedBy>
  <cp:revision>1</cp:revision>
  <dcterms:created xsi:type="dcterms:W3CDTF">2021-09-19T09:00:00Z</dcterms:created>
  <dcterms:modified xsi:type="dcterms:W3CDTF">2021-09-19T09:00:00Z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OrgSmithSynthetic">
    <vt:lpwstr>true</vt:lpwstr>
  </property>
</Properties>
</file>