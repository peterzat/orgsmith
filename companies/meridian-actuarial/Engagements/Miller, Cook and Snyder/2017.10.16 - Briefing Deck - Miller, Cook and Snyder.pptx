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Reserve Adequacy Review: Progress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Meridian Actuarial Advisors LLC — October 16, 2017</a:t>
            </a:r>
          </a:p>
          <a:p>
            <a:pPr lvl="1"/>
            <a:r>
              <a:t>Prepared for Miller, Cook and Snyder</a:t>
            </a:r>
          </a:p>
          <a:p>
            <a:pPr lvl="1"/>
            <a:r>
              <a:t>Client contact: Michelle Hudson, Director of Operations</a:t>
            </a:r>
          </a:p>
          <a:p>
            <a:pPr lvl="1"/>
            <a:r>
              <a:t>Engagement commenced August 28, 2017</a:t>
            </a:r>
          </a:p>
          <a:p>
            <a:pPr lvl="1"/>
            <a:r>
              <a:t>Prepared by Megan Dudley, Actuarial Associate, Meridian Actuarial Advisors LLC</a:t>
            </a:r>
          </a:p>
          <a:p>
            <a:pPr lvl="1"/>
            <a:r>
              <a:t>Status: early phase. Data received, reconciliation under way.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Scope and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An opinion on whether carried reserves make adequate provision for the liabilities they cover.</a:t>
            </a:r>
          </a:p>
          <a:p>
            <a:pPr lvl="1"/>
            <a:r>
              <a:t>Performed under the applicable Actuarial Standards of Practice, including ASOP No. 23 on data quality.</a:t>
            </a:r>
          </a:p>
          <a:p>
            <a:pPr lvl="1"/>
            <a:r>
              <a:t>Not an audit. The underlying records are not verified; reliance is disclosed in the report.</a:t>
            </a:r>
          </a:p>
          <a:p>
            <a:pPr lvl="1"/>
            <a:r>
              <a:t>Robert Lawrence is the responsible actuary and signs the opinion.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Data Received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In-force extract and reserve detail by plan received and loaded.</a:t>
            </a:r>
          </a:p>
          <a:p>
            <a:pPr lvl="1"/>
            <a:r>
              <a:t>David Sherman is reconciling counts and totals against the prior valuation.</a:t>
            </a:r>
          </a:p>
          <a:p>
            <a:pPr lvl="1"/>
            <a:r>
              <a:t>Most record classes reconcile within an explained difference. One does not, and is being looked at.</a:t>
            </a:r>
          </a:p>
          <a:p>
            <a:pPr lvl="1"/>
            <a:r>
              <a:t>The prior reconciliation summary is outstanding. Not blocking today.</a:t>
            </a:r>
          </a:p>
          <a:p>
            <a:pPr lvl="1"/>
            <a:r>
              <a:t>Data are tested for internal consistency and against the prior period. They are not audited.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Assumption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Jennifer Vasquez has inventoried the assumptions in force and flagged those changed since the prior valuation.</a:t>
            </a:r>
          </a:p>
          <a:p>
            <a:pPr lvl="1"/>
            <a:r>
              <a:t>Documented basis located for most. The lapse assumption's basis is still being traced.</a:t>
            </a:r>
          </a:p>
          <a:p>
            <a:pPr lvl="1"/>
            <a:r>
              <a:t>No recommendation on any assumption at this stage. This is measurement, not judgment.</a:t>
            </a:r>
          </a:p>
          <a:p>
            <a:pPr lvl="1"/>
            <a:r>
              <a:t>Anything said today about direction is preliminary and is not a conclusion.</a:t>
            </a:r>
          </a:p>
          <a:p>
            <a:pPr lvl="1"/>
            <a:r>
              <a:t>The inventory itself will be delivered as a memorandum with the basis on file recorded for each assumption.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Exhibit Workbook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The workbook follows the prior review's layout so exhibits sit side by side with their predecessors. Every exhibit traces to a named input tab, and the inputs are the extracts as received rather than a cleaned copy. Where a record is excluded, the exclusion is on the face of the exhibit, not in a footnote. The shell is built and the reconciled tabs are populated. Calculated exhibits follow once the open data question is closed.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Close out the reconciliation difference and the lapse assumption basis with your staff.</a:t>
            </a:r>
          </a:p>
          <a:p>
            <a:pPr lvl="1"/>
            <a:r>
              <a:t>Complete the calculated exhibits and put them through internal review.</a:t>
            </a:r>
          </a:p>
          <a:p>
            <a:pPr lvl="1"/>
            <a:r>
              <a:t>Working session with Michelle Hudson and her team near the midpoint to walk preliminary results.</a:t>
            </a:r>
          </a:p>
          <a:p>
            <a:pPr lvl="1"/>
            <a:r>
              <a:t>Draft report after that session. Robert Lawrence reviews before anything is circulated.</a:t>
            </a:r>
          </a:p>
          <a:p>
            <a:pPr lvl="1"/>
            <a:r>
              <a:t>Your day-to-day contact for data requests and scheduling remains Megan Dudley.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Reserve Adequacy Review for Miller, Cook and Snyder</dc:title>
  <dc:subject/>
  <dc:creator>Megan Dudley</dc:creator>
  <cp:keywords/>
  <dc:description>generated using python-pptx</dc:description>
  <cp:lastModifiedBy>Megan Dudley</cp:lastModifiedBy>
  <cp:revision>1</cp:revision>
  <dcterms:created xsi:type="dcterms:W3CDTF">2017-10-16T09:00:00Z</dcterms:created>
  <dcterms:modified xsi:type="dcterms:W3CDTF">2017-10-16T09:00:00Z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