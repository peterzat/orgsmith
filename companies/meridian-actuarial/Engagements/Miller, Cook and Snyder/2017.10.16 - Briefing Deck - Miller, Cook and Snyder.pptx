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docProps/custom.xml" ContentType="application/vnd.openxmlformats-officedocument.custom-propertie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OrgSmith"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rPr>
                <a:solidFill>
                  <a:srgbClr val="4A2E2A"/>
                </a:solidFill>
              </a:rPr>
              <a:t>Reserve Adequacy Review: A Briefing on the Work Under Way</a:t>
            </a:r>
          </a:p>
        </p:txBody>
      </p:sp>
      <p:sp>
        <p:nvSpPr>
          <p:cNvPr id="3" name="Subtitle 2"/>
          <p:cNvSpPr>
            <a:spLocks noGrp="1"/>
          </p:cNvSpPr>
          <p:nvPr>
            <p:ph type="subTitle" idx="1"/>
          </p:nvPr>
        </p:nvSpPr>
        <p:spPr/>
        <p:txBody>
          <a:bodyPr/>
          <a:lstStyle/>
          <a:p>
            <a:r>
              <a:t>Meridian Actuarial Advisors LLC — October 16, 2017</a:t>
            </a:r>
          </a:p>
          <a:p>
            <a:pPr/>
            <a:r>
              <a:t>Prepared for Miller, Cook and Snyder by Meridian Actuarial Advisors. The engagement opened on August 28, 2017, and this short briefing sets out what we are doing, who is doing it, and where the work stands now that it is under way.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4A2E2A"/>
                </a:solidFill>
              </a:rPr>
              <a:t>The Question We Are Here to Answer</a:t>
            </a:r>
          </a:p>
        </p:txBody>
      </p:sp>
      <p:sp>
        <p:nvSpPr>
          <p:cNvPr id="3" name="Content Placeholder 2"/>
          <p:cNvSpPr>
            <a:spLocks noGrp="1"/>
          </p:cNvSpPr>
          <p:nvPr>
            <p:ph idx="1"/>
          </p:nvPr>
        </p:nvSpPr>
        <p:spPr/>
        <p:txBody>
          <a:bodyPr/>
          <a:lstStyle/>
          <a:p>
            <a:pPr lvl="1"/>
            <a:r>
              <a:t>Whether the reserves Miller, Cook and Snyder carries are adequate to meet the obligations they are meant to fund.</a:t>
            </a:r>
          </a:p>
          <a:p>
            <a:pPr lvl="1"/>
            <a:r>
              <a:t>An independent view, formed from your own data as reconciled, not carried in from another engagement.</a:t>
            </a:r>
          </a:p>
          <a:p>
            <a:pPr lvl="1"/>
            <a:r>
              <a:t>A written opinion that keeps what the data show, what we assume, and what we conclude as three separate matters.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4A2E2A"/>
                </a:solidFill>
              </a:rPr>
              <a:t>What the Review Covers</a:t>
            </a:r>
          </a:p>
        </p:txBody>
      </p:sp>
      <p:sp>
        <p:nvSpPr>
          <p:cNvPr id="3" name="Content Placeholder 2"/>
          <p:cNvSpPr>
            <a:spLocks noGrp="1"/>
          </p:cNvSpPr>
          <p:nvPr>
            <p:ph idx="1"/>
          </p:nvPr>
        </p:nvSpPr>
        <p:spPr/>
        <p:txBody>
          <a:bodyPr/>
          <a:lstStyle/>
          <a:p>
            <a:pPr lvl="1"/>
            <a:r>
              <a:t>Reconciling the reserve data you provide against your own financial records, so the figures we test are the figures you carry.</a:t>
            </a:r>
          </a:p>
          <a:p>
            <a:pPr lvl="1"/>
            <a:r>
              <a:t>Reviewing the assumptions behind the current reserves, keeping those that regulation fixes apart from those that rest on judgment.</a:t>
            </a:r>
          </a:p>
          <a:p>
            <a:pPr lvl="1"/>
            <a:r>
              <a:t>Building an independent estimate of the required reserves and comparing it against the carried figures, with any difference attributed to its sources.</a:t>
            </a:r>
          </a:p>
          <a:p>
            <a:pPr lvl="1"/>
            <a:r>
              <a:t>Outside the work: auditing your statements, setting your reserves for you, or opining on your rates.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4A2E2A"/>
                </a:solidFill>
              </a:rPr>
              <a:t>The People on Both Sides</a:t>
            </a:r>
          </a:p>
        </p:txBody>
      </p:sp>
      <p:sp>
        <p:nvSpPr>
          <p:cNvPr id="3" name="Content Placeholder 2"/>
          <p:cNvSpPr>
            <a:spLocks noGrp="1"/>
          </p:cNvSpPr>
          <p:nvPr>
            <p:ph idx="1"/>
          </p:nvPr>
        </p:nvSpPr>
        <p:spPr/>
        <p:txBody>
          <a:bodyPr/>
          <a:lstStyle/>
          <a:p>
            <a:pPr lvl="1"/>
            <a:r>
              <a:t>Jennifer Vasquez, Consulting Actuary, owns the relationship and the judgment calls on scope.</a:t>
            </a:r>
          </a:p>
          <a:p>
            <a:pPr lvl="1"/>
            <a:r>
              <a:t>David Sherman, Senior Analyst, builds the valuation workbook and reconciles the data as it arrives.</a:t>
            </a:r>
          </a:p>
          <a:p>
            <a:pPr lvl="1"/>
            <a:r>
              <a:t>Megan Dudley, Actuarial Associate, keeps the exhibits, the data checks, and the running request log.</a:t>
            </a:r>
          </a:p>
          <a:p>
            <a:pPr lvl="1"/>
            <a:r>
              <a:t>Michelle Hudson, your Director of Operations, is our single point of contact for the data.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4A2E2A"/>
                </a:solidFill>
              </a:rPr>
              <a:t>Where the Work Stands Today</a:t>
            </a:r>
          </a:p>
        </p:txBody>
      </p:sp>
      <p:sp>
        <p:nvSpPr>
          <p:cNvPr id="3" name="Content Placeholder 2"/>
          <p:cNvSpPr>
            <a:spLocks noGrp="1"/>
          </p:cNvSpPr>
          <p:nvPr>
            <p:ph idx="1"/>
          </p:nvPr>
        </p:nvSpPr>
        <p:spPr/>
        <p:txBody>
          <a:bodyPr/>
          <a:lstStyle/>
          <a:p>
            <a:pPr lvl="1"/>
            <a:r>
              <a:t>We are in the early weeks, and the emphasis now is squarely on the data rather than on conclusions.</a:t>
            </a:r>
          </a:p>
          <a:p>
            <a:pPr lvl="1"/>
            <a:r>
              <a:t>The reserve detail has begun to arrive and the reconciliation against your year-end records is under way.</a:t>
            </a:r>
          </a:p>
          <a:p>
            <a:pPr lvl="1"/>
            <a:r>
              <a:t>One grouping question on the summary totals is open and being run to ground; we expect it to close without consequence.</a:t>
            </a:r>
          </a:p>
          <a:p>
            <a:pPr lvl="1"/>
            <a:r>
              <a:t>We are not offering findings yet, because an opinion this early would run ahead of what the work supports.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4A2E2A"/>
                </a:solidFill>
              </a:rPr>
              <a:t>What Comes Next</a:t>
            </a:r>
          </a:p>
        </p:txBody>
      </p:sp>
      <p:sp>
        <p:nvSpPr>
          <p:cNvPr id="3" name="Content Placeholder 2"/>
          <p:cNvSpPr>
            <a:spLocks noGrp="1"/>
          </p:cNvSpPr>
          <p:nvPr>
            <p:ph idx="1"/>
          </p:nvPr>
        </p:nvSpPr>
        <p:spPr/>
        <p:txBody>
          <a:bodyPr/>
          <a:lstStyle/>
          <a:p>
            <a:pPr/>
            <a:r>
              <a:t>From here we finish the reconciliation, then move into the assumption review and the independent estimate, and we will send a short status note as each piece lands so you always know where things stand. The single most useful thing from your side is the assumption documentation as it stood at the valuation date; our one clear next step is to get that itemized request to you this week and confirm each item as it comes back.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Briefing Deck: Reserve Adequacy Review for Miller, Cook and Snyder</dc:title>
  <dc:subject/>
  <dc:creator>Megan Dudley</dc:creator>
  <cp:keywords/>
  <dc:description>generated using python-pptx</dc:description>
  <cp:lastModifiedBy>Megan Dudley</cp:lastModifiedBy>
  <cp:revision>1</cp:revision>
  <dcterms:created xsi:type="dcterms:W3CDTF">2017-10-16T09:00:00Z</dcterms:created>
  <dcterms:modified xsi:type="dcterms:W3CDTF">2017-10-16T09:00:00Z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OrgSmithSynthetic">
    <vt:lpwstr>true</vt:lpwstr>
  </property>
</Properties>
</file>