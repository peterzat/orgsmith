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Pension Valuation: Engagement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Meridian Actuarial Advisors LLC — May 22, 2016</a:t>
            </a:r>
          </a:p>
          <a:p>
            <a:pPr lvl="1"/>
            <a:r>
              <a:t>Prepared for Howard and Sons</a:t>
            </a:r>
          </a:p>
          <a:p>
            <a:pPr lvl="1"/>
            <a:r>
              <a:t>Meridian Actuarial Advisors</a:t>
            </a:r>
          </a:p>
          <a:p>
            <a:pPr lvl="1"/>
            <a:r>
              <a:t>Presented by Jennifer Vasquez, Consulting Actuary</a:t>
            </a:r>
          </a:p>
          <a:p>
            <a:pPr lvl="1"/>
            <a:r>
              <a:t>No valuation results appear in this briefing. Results follow once the data are final and the assumptions are agreed.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Who Is Doing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Jennifer Vasquez, Consulting Actuary: leads the valuation and is your first contact.</a:t>
            </a:r>
          </a:p>
          <a:p>
            <a:pPr lvl="1"/>
            <a:r>
              <a:t>David Sherman, Senior Analyst: valuation model, census loading, and reconciliation.</a:t>
            </a:r>
          </a:p>
          <a:p>
            <a:pPr lvl="1"/>
            <a:r>
              <a:t>Jeffrey Ochoa, Actuarial Analyst: plan experience and the assumption review.</a:t>
            </a:r>
          </a:p>
          <a:p>
            <a:pPr lvl="1"/>
            <a:r>
              <a:t>Elizabeth Horne, Director of Operations: census data, plan documents, and decisions for Howard and 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Work began on April 18, 2016.</a:t>
            </a:r>
          </a:p>
          <a:p>
            <a:pPr lvl="1"/>
            <a:r>
              <a:t>The participant census has been received and loaded into the valuation model.</a:t>
            </a:r>
          </a:p>
          <a:p>
            <a:pPr lvl="1"/>
            <a:r>
              <a:t>Active and retiree records reconcile to the prior year's file.</a:t>
            </a:r>
          </a:p>
          <a:p>
            <a:pPr lvl="1"/>
            <a:r>
              <a:t>Some terminated vested records do not yet reconcile. Our questions on them are with your staff.</a:t>
            </a:r>
          </a:p>
          <a:p>
            <a:pPr lvl="1"/>
            <a:r>
              <a:t>The current plan document and its amendments have been requested.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Data, Assumptions,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Data: the census and plan provisions as you provide them. We test them for consistency and completeness. We do not audit them.</a:t>
            </a:r>
          </a:p>
          <a:p>
            <a:pPr lvl="1"/>
            <a:r>
              <a:t>Assumptions: our proposals for future experience, each reviewed with you before it is used.</a:t>
            </a:r>
          </a:p>
          <a:p>
            <a:pPr lvl="1"/>
            <a:r>
              <a:t>Conclusions: the liabilities and costs that follow from the data and the assumptions together.</a:t>
            </a:r>
          </a:p>
          <a:p>
            <a:pPr lvl="1"/>
            <a:r>
              <a:t>We report the three separately, so the effect of any change can be traced to its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Assumptions for Your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Mortality: whether to adopt the RP-2014 table with the MP-2015 improvement scale.</a:t>
            </a:r>
          </a:p>
          <a:p>
            <a:pPr lvl="1"/>
            <a:r>
              <a:t>Retirement and termination rates: tested against the plan's own experience before any change is proposed.</a:t>
            </a:r>
          </a:p>
          <a:p>
            <a:pPr lvl="1"/>
            <a:r>
              <a:t>Economic assumptions: each proposed with its basis stated in writing.</a:t>
            </a:r>
          </a:p>
          <a:p>
            <a:pPr lvl="1"/>
            <a:r>
              <a:t>Any item set by regulation is identified as prescribed, not presented as a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From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the open terminated vested questions with your staff.</a:t>
            </a:r>
          </a:p>
          <a:p>
            <a:pPr lvl="1"/>
            <a:r>
              <a:t>Code the amended plan provisions once the documents arrive.</a:t>
            </a:r>
          </a:p>
          <a:p>
            <a:pPr lvl="1"/>
            <a:r>
              <a:t>Send a written summary of the data and provisions before any assumption is applied.</a:t>
            </a:r>
          </a:p>
          <a:p>
            <a:pPr lvl="1"/>
            <a:r>
              <a:t>Hold a working session on the demographic assumptions.</a:t>
            </a:r>
          </a:p>
          <a:p>
            <a:pPr lvl="1"/>
            <a:r>
              <a:t>Preliminary results follow agreement on the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Pension Valuation for Howard and Sons</dc:title>
  <dc:subject/>
  <dc:creator>Jennifer Vasquez</dc:creator>
  <cp:keywords/>
  <dc:description>generated using python-pptx</dc:description>
  <cp:lastModifiedBy>Jennifer Vasquez</cp:lastModifiedBy>
  <cp:revision>1</cp:revision>
  <dcterms:created xsi:type="dcterms:W3CDTF">2016-05-22T09:00:00Z</dcterms:created>
  <dcterms:modified xsi:type="dcterms:W3CDTF">2016-05-22T09:00:00Z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