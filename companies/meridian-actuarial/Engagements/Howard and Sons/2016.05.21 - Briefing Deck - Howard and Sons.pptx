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Pension Valuation for Howard and Sons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Meridian Actuarial Advisors LLC — May 21, 2016</a:t>
            </a:r>
          </a:p>
          <a:p>
            <a:pPr lvl="1"/>
            <a:r>
              <a:t>Engagement start: April 17, 2016</a:t>
            </a:r>
          </a:p>
          <a:p>
            <a:pPr lvl="1"/>
            <a:r>
              <a:t>Prepared by Jennifer Vasquez, Consulting Actuary</a:t>
            </a:r>
          </a:p>
          <a:p>
            <a:pPr lvl="1"/>
            <a:r>
              <a:t>Purpose: measure the plan's funded position and the contribution for the year ahead</a:t>
            </a:r>
          </a:p>
          <a:p>
            <a:pPr lvl="1"/>
            <a:r>
              <a:t>For the Howard and Sons board and staff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the valuation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We measure the actuarial accrued liability and the normal cost under the plan's funding method.</a:t>
            </a:r>
          </a:p>
          <a:p>
            <a:pPr lvl="1"/>
            <a:r>
              <a:t>We report the funded ratio and a recommended contribution for the coming year.</a:t>
            </a:r>
          </a:p>
          <a:p>
            <a:pPr lvl="1"/>
            <a:r>
              <a:t>We reconcile this year's results to the prior valuation, so any change is explained and not just stated.</a:t>
            </a:r>
          </a:p>
          <a:p>
            <a:pPr lvl="1"/>
            <a:r>
              <a:t>We document every assumption and every data source that stands behind the numbers.</a:t>
            </a:r>
          </a:p>
          <a:p>
            <a:pPr lvl="1"/>
            <a:r>
              <a:t>Where the data cannot answer a question, we say so rather than estimate around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How the work is staffed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David Sherman reconciles the census and documents the data we rely on.</a:t>
            </a:r>
          </a:p>
          <a:p>
            <a:pPr lvl="1"/>
            <a:r>
              <a:t>Jeffrey Ochoa builds the valuation model and ties each result back to the assumption that drives it.</a:t>
            </a:r>
          </a:p>
          <a:p>
            <a:pPr lvl="1"/>
            <a:r>
              <a:t>Jennifer Vasquez signs the opinion and owns the judgment calls.</a:t>
            </a:r>
          </a:p>
          <a:p>
            <a:pPr lvl="1"/>
            <a:r>
              <a:t>Elizabeth Horne is our point of contact for data and plan questions.</a:t>
            </a:r>
          </a:p>
          <a:p>
            <a:pPr lvl="1"/>
            <a:r>
              <a:t>We confirm decisions in writing, so no one is working from an old version.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What you will receive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A workbook of exhibits: the liabilities, the assets, and the resulting funded position.</a:t>
            </a:r>
          </a:p>
          <a:p>
            <a:pPr lvl="1"/>
            <a:r>
              <a:t>A report that interprets the exhibits and states our opinion plainly.</a:t>
            </a:r>
          </a:p>
          <a:p>
            <a:pPr lvl="1"/>
            <a:r>
              <a:t>A short summary the board can read without the detail behind it.</a:t>
            </a:r>
          </a:p>
          <a:p>
            <a:pPr lvl="1"/>
            <a:r>
              <a:t>The full set of assumptions and data sources, laid out for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Where we are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The participant census is in and being reconciled to last year's file.</a:t>
            </a:r>
          </a:p>
          <a:p>
            <a:pPr lvl="1"/>
            <a:r>
              <a:t>The year-end asset statement and one plan-provision question are still open with your team.</a:t>
            </a:r>
          </a:p>
          <a:p>
            <a:pPr lvl="1"/>
            <a:r>
              <a:t>The assumptions are carried from the last study and will be reviewed before any results.</a:t>
            </a:r>
          </a:p>
          <a:p>
            <a:pPr lvl="1"/>
            <a:r>
              <a:t>No results yet; the work at this point is settling the inputs.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Send the year-end asset statement.</a:t>
            </a:r>
          </a:p>
          <a:p>
            <a:pPr lvl="1"/>
            <a:r>
              <a:t>Confirm the disability provision, so the valuation matches the plan document.</a:t>
            </a:r>
          </a:p>
          <a:p>
            <a:pPr lvl="1"/>
            <a:r>
              <a:t>We finish the census reconciliation and load the reviewed assumptions.</a:t>
            </a:r>
          </a:p>
          <a:p>
            <a:pPr lvl="1"/>
            <a:r>
              <a:t>We bring preliminary results back to you before anything is treated as final.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Pension Valuation for Howard and Sons</dc:title>
  <dc:subject/>
  <dc:creator>Jennifer Vasquez</dc:creator>
  <cp:keywords/>
  <dc:description>generated using python-pptx</dc:description>
  <cp:lastModifiedBy>Jennifer Vasquez</cp:lastModifiedBy>
  <cp:revision>1</cp:revision>
  <dcterms:created xsi:type="dcterms:W3CDTF">2016-05-21T09:00:00Z</dcterms:created>
  <dcterms:modified xsi:type="dcterms:W3CDTF">2016-05-21T09:00:00Z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