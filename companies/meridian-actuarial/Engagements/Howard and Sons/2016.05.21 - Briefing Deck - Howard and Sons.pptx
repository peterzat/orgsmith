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Pension Valuation: Howard and Sons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Meridian Actuarial Advisors LLC — May 21, 2016</a:t>
            </a:r>
          </a:p>
          <a:p>
            <a:pPr lvl="1"/>
            <a:r>
              <a:t>Funding valuation of the Howard and Sons defined benefit plan</a:t>
            </a:r>
          </a:p>
          <a:p>
            <a:pPr lvl="1"/>
            <a:r>
              <a:t>Prepared for the Director of Operations and the plan's trustees</a:t>
            </a:r>
          </a:p>
          <a:p>
            <a:pPr lvl="1"/>
            <a:r>
              <a:t>Engagement commenced April 17, 2016</a:t>
            </a:r>
          </a:p>
          <a:p>
            <a:pPr lvl="1"/>
            <a:r>
              <a:t>Presented by Jennifer Vasquez, Consulting Actuary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Were Asked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Measure plan liabilities on the funding basis at the valuation date</a:t>
            </a:r>
          </a:p>
          <a:p>
            <a:pPr lvl="1"/>
            <a:r>
              <a:t>Compare liabilities against trust assets and develop the recommended contribution</a:t>
            </a:r>
          </a:p>
          <a:p>
            <a:pPr lvl="1"/>
            <a:r>
              <a:t>Explain the movement in funded position since the prior valuation</a:t>
            </a:r>
          </a:p>
          <a:p>
            <a:pPr lvl="1"/>
            <a:r>
              <a:t>Deliver the exhibit workbook and the auditor disclosure schedules</a:t>
            </a:r>
          </a:p>
          <a:p>
            <a:pPr lvl="1"/>
            <a:r>
              <a:t>Work performed under the Actuarial Standards of Practice; opinion signed by Robert Lawrence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Census extract received and reconciled to the prior population by David Sherman</a:t>
            </a:r>
          </a:p>
          <a:p>
            <a:pPr lvl="1"/>
            <a:r>
              <a:t>Plan provisions summary drafted from the plan document and amendments by Jeffrey Ochoa</a:t>
            </a:r>
          </a:p>
          <a:p>
            <a:pPr lvl="1"/>
            <a:r>
              <a:t>Two data items still open: beneficiary dates of birth on a subset of inactives, and one amendment</a:t>
            </a:r>
          </a:p>
          <a:p>
            <a:pPr lvl="1"/>
            <a:r>
              <a:t>Assumption review underway; nothing recommended yet</a:t>
            </a:r>
          </a:p>
          <a:p>
            <a:pPr lvl="1"/>
            <a:r>
              <a:t>Valuation runs begin once the open items close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Data and What We Rely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 rely on the census, the trust statements, and the plan document as furnished by Elizabeth Horne and her staff</a:t>
            </a:r>
          </a:p>
          <a:p>
            <a:pPr lvl="1"/>
            <a:r>
              <a:t>We review for consistency and reconcile against the prior valuation; we do not audit</a:t>
            </a:r>
          </a:p>
          <a:p>
            <a:pPr lvl="1"/>
            <a:r>
              <a:t>Where an item is unavailable we assume, and we disclose both the assumption and the fact of it</a:t>
            </a:r>
          </a:p>
          <a:p>
            <a:pPr lvl="1"/>
            <a:r>
              <a:t>Data quality drives the schedule more than anything else on our 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Assumptions: Measurement Is Not Judgment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Measurement is what the data show; judgment is what we assume about the future</a:t>
            </a:r>
          </a:p>
          <a:p>
            <a:pPr lvl="1"/>
            <a:r>
              <a:t>Mortality is the live question this cycle and we expect it to move the liability</a:t>
            </a:r>
          </a:p>
          <a:p>
            <a:pPr lvl="1"/>
            <a:r>
              <a:t>We will show the effect of any assumption change separately, so you can see it</a:t>
            </a:r>
          </a:p>
          <a:p>
            <a:pPr lvl="1"/>
            <a:r>
              <a:t>We recommend; the board adopts</a:t>
            </a:r>
          </a:p>
          <a:p>
            <a:pPr lvl="1"/>
            <a:r>
              <a:t>No number leaves this engagement before it is reviewed and signed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Close the two open data items with your recordkeeper</a:t>
            </a:r>
          </a:p>
          <a:p>
            <a:pPr lvl="1"/>
            <a:r>
              <a:t>Complete the provisions check and the assumption review</a:t>
            </a:r>
          </a:p>
          <a:p>
            <a:pPr lvl="1"/>
            <a:r>
              <a:t>Run the valuation and build the exhibits</a:t>
            </a:r>
          </a:p>
          <a:p>
            <a:pPr lvl="1"/>
            <a:r>
              <a:t>Draft results to Howard and Sons for review before anything goes to the board</a:t>
            </a:r>
          </a:p>
          <a:p>
            <a:pPr lvl="1"/>
            <a:r>
              <a:t>Questions to Jennifer Vasquez; data questions direct to David Sherman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Pension Valuation for Howard and Sons</dc:title>
  <dc:subject/>
  <dc:creator>Jennifer Vasquez</dc:creator>
  <cp:keywords/>
  <dc:description>generated using python-pptx</dc:description>
  <cp:lastModifiedBy>Jennifer Vasquez</cp:lastModifiedBy>
  <cp:revision>1</cp:revision>
  <dcterms:created xsi:type="dcterms:W3CDTF">2016-05-21T09:00:00Z</dcterms:created>
  <dcterms:modified xsi:type="dcterms:W3CDTF">2016-05-21T09:00:00Z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