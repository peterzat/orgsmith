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OrgSmith"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a:solidFill>
                  <a:srgbClr val="1E4D2B"/>
                </a:solidFill>
              </a:rPr>
              <a:t>CFO Search for Roach, Moss and Hall</a:t>
            </a:r>
          </a:p>
        </p:txBody>
      </p:sp>
      <p:sp>
        <p:nvSpPr>
          <p:cNvPr id="3" name="Subtitle 2"/>
          <p:cNvSpPr>
            <a:spLocks noGrp="1"/>
          </p:cNvSpPr>
          <p:nvPr>
            <p:ph type="subTitle" idx="1"/>
          </p:nvPr>
        </p:nvSpPr>
        <p:spPr/>
        <p:txBody>
          <a:bodyPr/>
          <a:lstStyle/>
          <a:p>
            <a:r>
              <a:t>Northgate Talent Partners LLC — September 20, 2015</a:t>
            </a:r>
          </a:p>
          <a:p>
            <a:pPr/>
            <a:r>
              <a:t>A briefing for Jason Myers and the interview group, prepared by Sandra Fuentes, with Jeffrey Patterson on research and James Grant on process. The engagement began August 27, 2015 and is scoped to run about three months. This briefing covers the opening phase of the work: what we have done, what the market has said back to us so far, and what we would ask of you before the slate is drawn.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1E4D2B"/>
                </a:solidFill>
              </a:rPr>
              <a:t>Where the search stands</a:t>
            </a:r>
          </a:p>
        </p:txBody>
      </p:sp>
      <p:sp>
        <p:nvSpPr>
          <p:cNvPr id="3" name="Content Placeholder 2"/>
          <p:cNvSpPr>
            <a:spLocks noGrp="1"/>
          </p:cNvSpPr>
          <p:nvPr>
            <p:ph idx="1"/>
          </p:nvPr>
        </p:nvSpPr>
        <p:spPr/>
        <p:txBody>
          <a:bodyPr/>
          <a:lstStyle/>
          <a:p>
            <a:pPr lvl="1"/>
            <a:r>
              <a:t>The position specification is settled and signed off, and every approach we have made since has been made against it.</a:t>
            </a:r>
          </a:p>
          <a:p>
            <a:pPr lvl="1"/>
            <a:r>
              <a:t>The company map is agreed, covering the sector itself and the two adjacent ones, with the reason each company is on it recorded.</a:t>
            </a:r>
          </a:p>
          <a:p>
            <a:pPr lvl="1"/>
            <a:r>
              <a:t>Approaches are underway. These are conversations rather than applications; almost nobody we want is looking.</a:t>
            </a:r>
          </a:p>
          <a:p>
            <a:pPr lvl="1"/>
            <a:r>
              <a:t>There is no slate yet, and there should not be. A slate drawn at this point would be a list of the people who answered first.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1E4D2B"/>
                </a:solidFill>
              </a:rPr>
              <a:t>What the market is telling us</a:t>
            </a:r>
          </a:p>
        </p:txBody>
      </p:sp>
      <p:sp>
        <p:nvSpPr>
          <p:cNvPr id="3" name="Content Placeholder 2"/>
          <p:cNvSpPr>
            <a:spLocks noGrp="1"/>
          </p:cNvSpPr>
          <p:nvPr>
            <p:ph idx="1"/>
          </p:nvPr>
        </p:nvSpPr>
        <p:spPr/>
        <p:txBody>
          <a:bodyPr/>
          <a:lstStyle/>
          <a:p>
            <a:pPr lvl="1"/>
            <a:r>
              <a:t>The role reads well to operators who have been through a growth stretch, and reads as a step sideways to sitting finance chiefs at much larger companies.</a:t>
            </a:r>
          </a:p>
          <a:p>
            <a:pPr lvl="1"/>
            <a:r>
              <a:t>The board exposure written into the specification is the part that draws people in.</a:t>
            </a:r>
          </a:p>
          <a:p>
            <a:pPr lvl="1"/>
            <a:r>
              <a:t>Two candidates asked early how decisions actually get made and who owns the annual plan. Expect that question in your interviews.</a:t>
            </a:r>
          </a:p>
          <a:p>
            <a:pPr lvl="1"/>
            <a:r>
              <a:t>Compensation is not an obstacle so far, though we will know more once we are talking with people who would have to leave something behind.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1E4D2B"/>
                </a:solidFill>
              </a:rPr>
              <a:t>How we are protecting the process</a:t>
            </a:r>
          </a:p>
        </p:txBody>
      </p:sp>
      <p:sp>
        <p:nvSpPr>
          <p:cNvPr id="3" name="Content Placeholder 2"/>
          <p:cNvSpPr>
            <a:spLocks noGrp="1"/>
          </p:cNvSpPr>
          <p:nvPr>
            <p:ph idx="1"/>
          </p:nvPr>
        </p:nvSpPr>
        <p:spPr/>
        <p:txBody>
          <a:bodyPr/>
          <a:lstStyle/>
          <a:p>
            <a:pPr lvl="1"/>
            <a:r>
              <a:t>Candidates are described by their current role and never by name in anything that circulates, including these pages.</a:t>
            </a:r>
          </a:p>
          <a:p>
            <a:pPr lvl="1"/>
            <a:r>
              <a:t>Jeffrey Patterson holds the target list and the reasoning behind each name, so that any candidate who reaches you can be defended.</a:t>
            </a:r>
          </a:p>
          <a:p>
            <a:pPr lvl="1"/>
            <a:r>
              <a:t>James Grant holds the interview calendar. Windows are confirmed before a candidate is told anything about dates.</a:t>
            </a:r>
          </a:p>
          <a:p>
            <a:pPr lvl="1"/>
            <a:r>
              <a:t>Nothing about this search is put in writing outside the engagement team and your interview group.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1E4D2B"/>
                </a:solidFill>
              </a:rPr>
              <a:t>What we would ask of you</a:t>
            </a:r>
          </a:p>
        </p:txBody>
      </p:sp>
      <p:sp>
        <p:nvSpPr>
          <p:cNvPr id="3" name="Content Placeholder 2"/>
          <p:cNvSpPr>
            <a:spLocks noGrp="1"/>
          </p:cNvSpPr>
          <p:nvPr>
            <p:ph idx="1"/>
          </p:nvPr>
        </p:nvSpPr>
        <p:spPr/>
        <p:txBody>
          <a:bodyPr/>
          <a:lstStyle/>
          <a:p>
            <a:pPr lvl="1"/>
            <a:r>
              <a:t>Two half-day windows held for the interview group, so that the slate review is not waiting on calendars once it is ready.</a:t>
            </a:r>
          </a:p>
          <a:p>
            <a:pPr lvl="1"/>
            <a:r>
              <a:t>A view from Jason Myers on whether the board members meet finalists together or separately.</a:t>
            </a:r>
          </a:p>
          <a:p>
            <a:pPr lvl="1"/>
            <a:r>
              <a:t>Feedback within a day of each meeting. Candidates read a long silence as a decision that has already been made.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Briefing Deck: CFO Search for Roach, Moss and Hall</dc:title>
  <dc:subject/>
  <dc:creator>Sandra Fuentes</dc:creator>
  <cp:keywords/>
  <dc:description>generated using python-pptx</dc:description>
  <cp:lastModifiedBy>Sandra Fuentes</cp:lastModifiedBy>
  <cp:revision>1</cp:revision>
  <dcterms:created xsi:type="dcterms:W3CDTF">2015-09-20T09:00:00Z</dcterms:created>
  <dcterms:modified xsi:type="dcterms:W3CDTF">2015-09-20T09:00:00Z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rgSmithSynthetic">
    <vt:lpwstr>true</vt:lpwstr>
  </property>
</Properties>
</file>