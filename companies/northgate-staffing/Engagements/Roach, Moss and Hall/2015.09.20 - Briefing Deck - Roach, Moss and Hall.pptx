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OrgSmith"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solidFill>
                  <a:srgbClr val="1E4D2B"/>
                </a:solidFill>
              </a:rPr>
              <a:t>CFO Search: Roach, Moss and Hall</a:t>
            </a:r>
          </a:p>
        </p:txBody>
      </p:sp>
      <p:sp>
        <p:nvSpPr>
          <p:cNvPr id="3" name="Subtitle 2"/>
          <p:cNvSpPr>
            <a:spLocks noGrp="1"/>
          </p:cNvSpPr>
          <p:nvPr>
            <p:ph type="subTitle" idx="1"/>
          </p:nvPr>
        </p:nvSpPr>
        <p:spPr/>
        <p:txBody>
          <a:bodyPr/>
          <a:lstStyle/>
          <a:p>
            <a:r>
              <a:t>Northgate Talent Partners LLC — September 20, 2015</a:t>
            </a:r>
          </a:p>
          <a:p>
            <a:pPr/>
            <a:r>
              <a:t>A retained search for the next Chief Financial Officer of Roach, Moss and Hall, prepared for the hiring committee by our search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1E4D2B"/>
                </a:solidFill>
              </a:rPr>
              <a:t>What we set out to do</a:t>
            </a:r>
          </a:p>
        </p:txBody>
      </p:sp>
      <p:sp>
        <p:nvSpPr>
          <p:cNvPr id="3" name="Content Placeholder 2"/>
          <p:cNvSpPr>
            <a:spLocks noGrp="1"/>
          </p:cNvSpPr>
          <p:nvPr>
            <p:ph idx="1"/>
          </p:nvPr>
        </p:nvSpPr>
        <p:spPr/>
        <p:txBody>
          <a:bodyPr/>
          <a:lstStyle/>
          <a:p>
            <a:pPr lvl="1"/>
            <a:r>
              <a:t>Find a Chief Financial Officer who can carry the finance function through the company's next stage of growth, not simply keep its books.</a:t>
            </a:r>
          </a:p>
          <a:p>
            <a:pPr lvl="1"/>
            <a:r>
              <a:t>Run the search on a retained basis, working only for Roach, Moss and Hall on this mandate until the seat is filled.</a:t>
            </a:r>
          </a:p>
          <a:p>
            <a:pPr lvl="1"/>
            <a:r>
              <a:t>Protect discretion throughout, describing candidates by their current role and record rather than by name until both sides are ready to meet.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1E4D2B"/>
                </a:solidFill>
              </a:rPr>
              <a:t>Where the search stands today</a:t>
            </a:r>
          </a:p>
        </p:txBody>
      </p:sp>
      <p:sp>
        <p:nvSpPr>
          <p:cNvPr id="3" name="Content Placeholder 2"/>
          <p:cNvSpPr>
            <a:spLocks noGrp="1"/>
          </p:cNvSpPr>
          <p:nvPr>
            <p:ph idx="1"/>
          </p:nvPr>
        </p:nvSpPr>
        <p:spPr/>
        <p:txBody>
          <a:bodyPr/>
          <a:lstStyle/>
          <a:p>
            <a:pPr lvl="1"/>
            <a:r>
              <a:t>The engagement opened on August 27, 2015, and the position specification has been agreed with Jason Myers and the board, so the whole team is now searching against one settled brief.</a:t>
            </a:r>
          </a:p>
          <a:p>
            <a:pPr lvl="1"/>
            <a:r>
              <a:t>James Grant has begun mapping the market at the senior-operator level, covering the sectors where a CFO of this profile is likely to be found, and is building the long list from that map.</a:t>
            </a:r>
          </a:p>
          <a:p>
            <a:pPr lvl="1"/>
            <a:r>
              <a:t>Jeffrey Patterson has opened the first candidate conversations and is keeping every thread moving, so that no promising prospect goes quiet while the field is still coming together.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1E4D2B"/>
                </a:solidFill>
              </a:rPr>
              <a:t>Who is on your account</a:t>
            </a:r>
          </a:p>
        </p:txBody>
      </p:sp>
      <p:sp>
        <p:nvSpPr>
          <p:cNvPr id="3" name="Content Placeholder 2"/>
          <p:cNvSpPr>
            <a:spLocks noGrp="1"/>
          </p:cNvSpPr>
          <p:nvPr>
            <p:ph idx="1"/>
          </p:nvPr>
        </p:nvSpPr>
        <p:spPr/>
        <p:txBody>
          <a:bodyPr/>
          <a:lstStyle/>
          <a:p>
            <a:pPr lvl="1"/>
            <a:r>
              <a:t>Sandra Fuentes, Principal, leads the assignment and owns the relationship with the committee and with every candidate.</a:t>
            </a:r>
          </a:p>
          <a:p>
            <a:pPr lvl="1"/>
            <a:r>
              <a:t>James Grant, Senior Consultant, works the market at the most senior level and weighs the finalists.</a:t>
            </a:r>
          </a:p>
          <a:p>
            <a:pPr lvl="1"/>
            <a:r>
              <a:t>Jeffrey Patterson, Research Consultant, runs the candidate threads and keeps the search on schedule.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1E4D2B"/>
                </a:solidFill>
              </a:rPr>
              <a:t>What happens next</a:t>
            </a:r>
          </a:p>
        </p:txBody>
      </p:sp>
      <p:sp>
        <p:nvSpPr>
          <p:cNvPr id="3" name="Content Placeholder 2"/>
          <p:cNvSpPr>
            <a:spLocks noGrp="1"/>
          </p:cNvSpPr>
          <p:nvPr>
            <p:ph idx="1"/>
          </p:nvPr>
        </p:nvSpPr>
        <p:spPr/>
        <p:txBody>
          <a:bodyPr/>
          <a:lstStyle/>
          <a:p>
            <a:pPr lvl="1"/>
            <a:r>
              <a:t>Complete the market map and close the long list over the coming weeks.</a:t>
            </a:r>
          </a:p>
          <a:p>
            <a:pPr lvl="1"/>
            <a:r>
              <a:t>Begin first-round interviews and assessment as strong prospects confirm their interest.</a:t>
            </a:r>
          </a:p>
          <a:p>
            <a:pPr lvl="1"/>
            <a:r>
              <a:t>Report progress to Jason Myers at our standing check-in, and bring the committee a short slate once the field has been tested.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Briefing Deck: CFO Search for Roach, Moss and Hall</dc:title>
  <dc:subject/>
  <dc:creator>Sandra Fuentes</dc:creator>
  <cp:keywords/>
  <dc:description>generated using python-pptx</dc:description>
  <cp:lastModifiedBy>Sandra Fuentes</cp:lastModifiedBy>
  <cp:revision>1</cp:revision>
  <dcterms:created xsi:type="dcterms:W3CDTF">2015-09-20T09:00:00Z</dcterms:created>
  <dcterms:modified xsi:type="dcterms:W3CDTF">2015-09-20T09:00:00Z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gSmithSynthetic">
    <vt:lpwstr>true</vt:lpwstr>
  </property>
</Properties>
</file>