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OrgSmith"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solidFill>
                  <a:srgbClr val="1E4D2B"/>
                </a:solidFill>
              </a:rPr>
              <a:t>VP Engineering Search for Coleman Ltd</a:t>
            </a:r>
          </a:p>
        </p:txBody>
      </p:sp>
      <p:sp>
        <p:nvSpPr>
          <p:cNvPr id="3" name="Subtitle 2"/>
          <p:cNvSpPr>
            <a:spLocks noGrp="1"/>
          </p:cNvSpPr>
          <p:nvPr>
            <p:ph type="subTitle" idx="1"/>
          </p:nvPr>
        </p:nvSpPr>
        <p:spPr/>
        <p:txBody>
          <a:bodyPr/>
          <a:lstStyle/>
          <a:p>
            <a:r>
              <a:t>Northgate Talent Partners LLC — April 27, 2016</a:t>
            </a:r>
          </a:p>
          <a:p>
            <a:pPr/>
            <a:r>
              <a:t>A briefing for Michael Martin and his colleagues on where the search stands. The engagement commenced March 6, 2016 and is scoped to run about seven months. This briefing covers the research phase and the approaches now underway.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Where the search stands</a:t>
            </a:r>
          </a:p>
        </p:txBody>
      </p:sp>
      <p:sp>
        <p:nvSpPr>
          <p:cNvPr id="3" name="Content Placeholder 2"/>
          <p:cNvSpPr>
            <a:spLocks noGrp="1"/>
          </p:cNvSpPr>
          <p:nvPr>
            <p:ph idx="1"/>
          </p:nvPr>
        </p:nvSpPr>
        <p:spPr/>
        <p:txBody>
          <a:bodyPr/>
          <a:lstStyle/>
          <a:p>
            <a:pPr lvl="1"/>
            <a:r>
              <a:t>The position specification is approved and is the document every approach is made against.</a:t>
            </a:r>
          </a:p>
          <a:p>
            <a:pPr lvl="1"/>
            <a:r>
              <a:t>The market map is complete for the sectors we agreed, and a second pass is open on two adjacent ones.</a:t>
            </a:r>
          </a:p>
          <a:p>
            <a:pPr lvl="1"/>
            <a:r>
              <a:t>The first wave of approaches has gone out; a second wave follows once we have read the response to the first.</a:t>
            </a:r>
          </a:p>
          <a:p>
            <a:pPr lvl="1"/>
            <a:r>
              <a:t>A number of conversations are live. None of them are far enough along to name in a document.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What the market has said back</a:t>
            </a:r>
          </a:p>
        </p:txBody>
      </p:sp>
      <p:sp>
        <p:nvSpPr>
          <p:cNvPr id="3" name="Content Placeholder 2"/>
          <p:cNvSpPr>
            <a:spLocks noGrp="1"/>
          </p:cNvSpPr>
          <p:nvPr>
            <p:ph idx="1"/>
          </p:nvPr>
        </p:nvSpPr>
        <p:spPr/>
        <p:txBody>
          <a:bodyPr/>
          <a:lstStyle/>
          <a:p>
            <a:pPr lvl="1"/>
            <a:r>
              <a:t>The profile exists, but it is concentrated in companies one size larger than yours, which is what we expected and planned for.</a:t>
            </a:r>
          </a:p>
          <a:p>
            <a:pPr lvl="1"/>
            <a:r>
              <a:t>The strongest people are not in the market. Each of them needs a reason to move, and the reason is the scope of the role and not the package.</a:t>
            </a:r>
          </a:p>
          <a:p>
            <a:pPr lvl="1"/>
            <a:r>
              <a:t>Candidates ask early about the reporting line and about how much of the architecture decision is genuinely theirs. Clear answers there are worth more to us than anything else you can give 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How we are describing the role</a:t>
            </a:r>
          </a:p>
        </p:txBody>
      </p:sp>
      <p:sp>
        <p:nvSpPr>
          <p:cNvPr id="3" name="Content Placeholder 2"/>
          <p:cNvSpPr>
            <a:spLocks noGrp="1"/>
          </p:cNvSpPr>
          <p:nvPr>
            <p:ph idx="1"/>
          </p:nvPr>
        </p:nvSpPr>
        <p:spPr/>
        <p:txBody>
          <a:bodyPr/>
          <a:lstStyle/>
          <a:p>
            <a:pPr lvl="1"/>
            <a:r>
              <a:t>As ownership of the engineering organization through a change of platform, not as maintenance of the one you have.</a:t>
            </a:r>
          </a:p>
          <a:p>
            <a:pPr lvl="1"/>
            <a:r>
              <a:t>As a seat where the executive is accountable for delivery and for the team that does it.</a:t>
            </a:r>
          </a:p>
          <a:p>
            <a:pPr lvl="1"/>
            <a:r>
              <a:t>As a company at the point where the next stage of growth needs an engineering leader who has been there before.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Your team at Northgate</a:t>
            </a:r>
          </a:p>
        </p:txBody>
      </p:sp>
      <p:sp>
        <p:nvSpPr>
          <p:cNvPr id="3" name="Content Placeholder 2"/>
          <p:cNvSpPr>
            <a:spLocks noGrp="1"/>
          </p:cNvSpPr>
          <p:nvPr>
            <p:ph idx="1"/>
          </p:nvPr>
        </p:nvSpPr>
        <p:spPr/>
        <p:txBody>
          <a:bodyPr/>
          <a:lstStyle/>
          <a:p>
            <a:pPr lvl="1"/>
            <a:r>
              <a:t>Jeffrey Patterson, Research Consultant, carries the search day to day and is your first call.</a:t>
            </a:r>
          </a:p>
          <a:p>
            <a:pPr lvl="1"/>
            <a:r>
              <a:t>James Grant, Senior Consultant, works the target list and will sit in on your interviews.</a:t>
            </a:r>
          </a:p>
          <a:p>
            <a:pPr lvl="1"/>
            <a:r>
              <a:t>John Chang, Research Associate, holds the market map, the scheduling, and the record of our sessions.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What happens next</a:t>
            </a:r>
          </a:p>
        </p:txBody>
      </p:sp>
      <p:sp>
        <p:nvSpPr>
          <p:cNvPr id="3" name="Content Placeholder 2"/>
          <p:cNvSpPr>
            <a:spLocks noGrp="1"/>
          </p:cNvSpPr>
          <p:nvPr>
            <p:ph idx="1"/>
          </p:nvPr>
        </p:nvSpPr>
        <p:spPr/>
        <p:txBody>
          <a:bodyPr/>
          <a:lstStyle/>
          <a:p>
            <a:pPr lvl="1"/>
            <a:r>
              <a:t>A calibration session with you, to test the specification against what the market has told us.</a:t>
            </a:r>
          </a:p>
          <a:p>
            <a:pPr lvl="1"/>
            <a:r>
              <a:t>Your ruling on the three companies we flagged as too close to Coleman Ltd to approach without it.</a:t>
            </a:r>
          </a:p>
          <a:p>
            <a:pPr lvl="1"/>
            <a:r>
              <a:t>Second wave of approaches, then first-round assessment interviews conducted by 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Briefing Deck: VP Engineering Search for Coleman Ltd</dc:title>
  <dc:subject/>
  <dc:creator>Jeffrey Patterson</dc:creator>
  <cp:keywords/>
  <dc:description>generated using python-pptx</dc:description>
  <cp:lastModifiedBy>Jeffrey Patterson</cp:lastModifiedBy>
  <cp:revision>1</cp:revision>
  <dcterms:created xsi:type="dcterms:W3CDTF">2016-04-27T09:00:00Z</dcterms:created>
  <dcterms:modified xsi:type="dcterms:W3CDTF">2016-04-27T09:00:00Z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gSmithSynthetic">
    <vt:lpwstr>true</vt:lpwstr>
  </property>
</Properties>
</file>