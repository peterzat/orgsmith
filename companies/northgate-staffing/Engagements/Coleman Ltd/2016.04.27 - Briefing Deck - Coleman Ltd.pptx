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Vice President of Engineering Search: Coleman Ltd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Northgate Talent Partners LLC — April 27, 2016</a:t>
            </a:r>
          </a:p>
          <a:p>
            <a:pPr lvl="1"/>
            <a:r>
              <a:t>Client: Coleman Ltd</a:t>
            </a:r>
          </a:p>
          <a:p>
            <a:pPr lvl="1"/>
            <a:r>
              <a:t>Engagement commenced March 6, 2016</a:t>
            </a:r>
          </a:p>
          <a:p>
            <a:pPr lvl="1"/>
            <a:r>
              <a:t>Prepared for Michael Martin, Chief Operating Officer</a:t>
            </a:r>
          </a:p>
          <a:p>
            <a:pPr lvl="1"/>
            <a:r>
              <a:t>Prepared by Jeffrey Patterson, Research Consultant</a:t>
            </a:r>
          </a:p>
          <a:p>
            <a:pPr lvl="1"/>
            <a:r>
              <a:t>Confidential. Candidates are identified by current role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Where the Search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Specification agreed and signed. We are sourcing against it, not against the job description it started as.</a:t>
            </a:r>
          </a:p>
          <a:p>
            <a:pPr lvl="1"/>
            <a:r>
              <a:t>Target company list closed at the companies we can approach and will approach.</a:t>
            </a:r>
          </a:p>
          <a:p>
            <a:pPr lvl="1"/>
            <a:r>
              <a:t>Market map complete. Long list built and being worked.</a:t>
            </a:r>
          </a:p>
          <a:p>
            <a:pPr lvl="1"/>
            <a:r>
              <a:t>First conversations underway. No slate yet, and none should be expected at this point in the work.</a:t>
            </a:r>
          </a:p>
          <a:p>
            <a:pPr lvl="1"/>
            <a:r>
              <a:t>On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the Market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profile is real but thin. The population that has done this job at this scale is smaller than the specification implies it is.</a:t>
            </a:r>
          </a:p>
          <a:p>
            <a:pPr lvl="1"/>
            <a:r>
              <a:t>Nearly all of it is employed, senior, and not looking. Every conversation opens as a favor, not as an application.</a:t>
            </a:r>
          </a:p>
          <a:p>
            <a:pPr lvl="1"/>
            <a:r>
              <a:t>Two adjacent pools are worth opening: operators one level down inside larger organizations, and this profile at companies going through a different kind of change.</a:t>
            </a:r>
          </a:p>
          <a:p>
            <a:pPr lvl="1"/>
            <a:r>
              <a:t>Compensation is not the binding constraint we expected. Scope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How We Are Working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Approaches are made by a person, not by a firm. James Grant makes the first call at the senior end, because that is the call that gets returned.</a:t>
            </a:r>
          </a:p>
          <a:p>
            <a:pPr lvl="1"/>
            <a:r>
              <a:t>John Chang holds the map and the record. Every approach, every response, every decline with its reason.</a:t>
            </a:r>
          </a:p>
          <a:p>
            <a:pPr lvl="1"/>
            <a:r>
              <a:t>Nothing goes forward that we have not met twice. You should not be the second interview a candidate has had.</a:t>
            </a:r>
          </a:p>
          <a:p>
            <a:pPr lvl="1"/>
            <a:r>
              <a:t>We keep the set-asides. What we put down and why is as much of the product as what we bring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What We Need From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 calibration session on four to six anonymized profiles. These are samples, not candidates; nobody in the pack is someone you can hire.</a:t>
            </a:r>
          </a:p>
          <a:p>
            <a:pPr lvl="1"/>
            <a:r>
              <a:t>A decision on the adjacent pools above. In or out, decided once, so that we are not relitigating it at the slate.</a:t>
            </a:r>
          </a:p>
          <a:p>
            <a:pPr lvl="1"/>
            <a:r>
              <a:t>Confirmation of everyone who holds a vote on this hire, including anyone who holds one informally.</a:t>
            </a:r>
          </a:p>
          <a:p>
            <a:pPr lvl="1"/>
            <a:r>
              <a:t>Interview availability blocked now, ahead of the slate rather than after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E4D2B"/>
                </a:solidFill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James Grant runs the calibration session with you and your team.</a:t>
            </a:r>
          </a:p>
          <a:p>
            <a:pPr lvl="1"/>
            <a:r>
              <a:t>John Chang extends the map into the adjacent pools, should you open them.</a:t>
            </a:r>
          </a:p>
          <a:p>
            <a:pPr lvl="1"/>
            <a:r>
              <a:t>Jeffrey Patterson reissues the specification if calibration moves it, and it usually moves it.</a:t>
            </a:r>
          </a:p>
          <a:p>
            <a:pPr lvl="1"/>
            <a:r>
              <a:t>Written update weekly. James Grant calls if something cannot wait for the written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VP Engineering Search for Coleman Ltd</dc:title>
  <dc:subject/>
  <dc:creator>Jeffrey Patterson</dc:creator>
  <cp:keywords/>
  <dc:description>generated using python-pptx</dc:description>
  <cp:lastModifiedBy>Jeffrey Patterson</cp:lastModifiedBy>
  <cp:revision>1</cp:revision>
  <dcterms:created xsi:type="dcterms:W3CDTF">2016-04-27T09:00:00Z</dcterms:created>
  <dcterms:modified xsi:type="dcterms:W3CDTF">2016-04-27T09:00:00Z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